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a32dc6-7124-1d7f-dd4e-c210114117c9}">
          <p14:sldIdLst>
            <p14:sldId id="256"/>
          </p14:sldIdLst>
        </p14:section>
        <p14:section name="Data" id="{b5d13081-8934-5c42-6fc5-acde527e01e5}">
          <p14:sldIdLst>
            <p14:sldId id="257"/>
            <p14:sldId id="258"/>
          </p14:sldIdLst>
        </p14:section>
        <p14:section name="Modelling" id="{e1c5818a-f7c0-585a-b09c-4a29aab5a603}">
          <p14:sldIdLst>
            <p14:sldId id="259"/>
            <p14:sldId id="260"/>
          </p14:sldIdLst>
        </p14:section>
        <p14:section name="Results" id="{c31d3124-ccd4-9837-5b33-e39c0ae40134}">
          <p14:sldIdLst>
            <p14:sldId id="261"/>
          </p14:sldIdLst>
        </p14:section>
        <p14:section name="Deployment" id="{f349a775-3d6b-39fe-f738-7add6764e80b}">
          <p14:sldIdLst>
            <p14:sldId id="262"/>
          </p14:sldIdLst>
        </p14:section>
        <p14:section name="Wrap-up" id="{07670f9d-97ab-a0c0-ddfc-7a927ebdd9b0}">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Label share by split (%)</a:t>
            </a:r>
          </a:p>
        </c:rich>
      </c:tx>
      <c:layout/>
      <c:overlay val="0"/>
    </c:title>
    <c:autoTitleDeleted val="0"/>
    <c:plotArea>
      <c:layout/>
      <c:barChart>
        <c:barDir val="col"/>
        <c:grouping val="clustered"/>
        <c:varyColors val="0"/>
        <c:ser>
          <c:idx val="0"/>
          <c:order val="0"/>
          <c:tx>
            <c:strRef>
              <c:f>Sheet1!$B$1</c:f>
              <c:strCache>
                <c:ptCount val="1"/>
                <c:pt idx="0">
                  <c:v>Train</c:v>
                </c:pt>
              </c:strCache>
            </c:strRef>
          </c:tx>
          <c:spPr>
            <a:solidFill>
              <a:srgbClr val="1F2A44"/>
            </a:solidFill>
            <a:effectLst/>
          </c:spPr>
          <c:invertIfNegative val="0"/>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cat>
            <c:multiLvlStrRef>
              <c:f>Sheet1!$A$2:$A$4</c:f>
              <c:multiLvlStrCache>
                <c:ptCount val="3"/>
                <c:lvl>
                  <c:pt idx="0">
                    <c:v>No Fit</c:v>
                  </c:pt>
                  <c:pt idx="1">
                    <c:v>Potential Fit</c:v>
                  </c:pt>
                  <c:pt idx="2">
                    <c:v>Good Fit</c:v>
                  </c:pt>
                </c:lvl>
              </c:multiLvlStrCache>
            </c:multiLvlStrRef>
          </c:cat>
          <c:val>
            <c:numRef>
              <c:f>Sheet1!$B$2:$B$4</c:f>
              <c:numCache>
                <c:formatCode>General</c:formatCode>
                <c:ptCount val="3"/>
                <c:pt idx="0">
                  <c:v>51</c:v>
                </c:pt>
                <c:pt idx="1">
                  <c:v>25</c:v>
                </c:pt>
                <c:pt idx="2">
                  <c:v>24</c:v>
                </c:pt>
              </c:numCache>
            </c:numRef>
          </c:val>
        </c:ser>
        <c:ser>
          <c:idx val="1"/>
          <c:order val="1"/>
          <c:tx>
            <c:strRef>
              <c:f>Sheet1!$C$1</c:f>
              <c:strCache>
                <c:ptCount val="1"/>
                <c:pt idx="0">
                  <c:v>Validation</c:v>
                </c:pt>
              </c:strCache>
            </c:strRef>
          </c:tx>
          <c:spPr>
            <a:solidFill>
              <a:srgbClr val="0F766E"/>
            </a:solidFill>
            <a:effectLst/>
          </c:spPr>
          <c:invertIfNegative val="0"/>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cat>
            <c:multiLvlStrRef>
              <c:f>Sheet1!$A$2:$A$4</c:f>
              <c:multiLvlStrCache>
                <c:ptCount val="3"/>
                <c:lvl>
                  <c:pt idx="0">
                    <c:v>No Fit</c:v>
                  </c:pt>
                  <c:pt idx="1">
                    <c:v>Potential Fit</c:v>
                  </c:pt>
                  <c:pt idx="2">
                    <c:v>Good Fit</c:v>
                  </c:pt>
                </c:lvl>
              </c:multiLvlStrCache>
            </c:multiLvlStrRef>
          </c:cat>
          <c:val>
            <c:numRef>
              <c:f>Sheet1!$C$2:$C$4</c:f>
              <c:numCache>
                <c:formatCode>General</c:formatCode>
                <c:ptCount val="3"/>
                <c:pt idx="0">
                  <c:v>49</c:v>
                </c:pt>
                <c:pt idx="1">
                  <c:v>25</c:v>
                </c:pt>
                <c:pt idx="2">
                  <c:v>27</c:v>
                </c:pt>
              </c:numCache>
            </c:numRef>
          </c:val>
        </c:ser>
        <c:ser>
          <c:idx val="2"/>
          <c:order val="2"/>
          <c:tx>
            <c:strRef>
              <c:f>Sheet1!$D$1</c:f>
              <c:strCache>
                <c:ptCount val="1"/>
                <c:pt idx="0">
                  <c:v>Test</c:v>
                </c:pt>
              </c:strCache>
            </c:strRef>
          </c:tx>
          <c:spPr>
            <a:solidFill>
              <a:srgbClr val="94A3B8"/>
            </a:solidFill>
            <a:effectLst/>
          </c:spPr>
          <c:invertIfNegative val="0"/>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cat>
            <c:multiLvlStrRef>
              <c:f>Sheet1!$A$2:$A$4</c:f>
              <c:multiLvlStrCache>
                <c:ptCount val="3"/>
                <c:lvl>
                  <c:pt idx="0">
                    <c:v>No Fit</c:v>
                  </c:pt>
                  <c:pt idx="1">
                    <c:v>Potential Fit</c:v>
                  </c:pt>
                  <c:pt idx="2">
                    <c:v>Good Fit</c:v>
                  </c:pt>
                </c:lvl>
              </c:multiLvlStrCache>
            </c:multiLvlStrRef>
          </c:cat>
          <c:val>
            <c:numRef>
              <c:f>Sheet1!$D$2:$D$4</c:f>
              <c:numCache>
                <c:formatCode>General</c:formatCode>
                <c:ptCount val="3"/>
                <c:pt idx="0">
                  <c:v>49</c:v>
                </c:pt>
                <c:pt idx="1">
                  <c:v>25</c:v>
                </c:pt>
                <c:pt idx="2">
                  <c:v>26</c:v>
                </c:pt>
              </c:numCache>
            </c:numRef>
          </c:val>
        </c:ser>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60"/>
        </c:scaling>
        <c:delete val="1"/>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293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Validation macro F1</a:t>
            </a:r>
          </a:p>
        </c:rich>
      </c:tx>
      <c:layout/>
      <c:overlay val="0"/>
    </c:title>
    <c:autoTitleDeleted val="0"/>
    <c:plotArea>
      <c:layout/>
      <c:barChart>
        <c:barDir val="bar"/>
        <c:grouping val="clustered"/>
        <c:varyColors val="0"/>
        <c:ser>
          <c:idx val="0"/>
          <c:order val="0"/>
          <c:tx>
            <c:strRef>
              <c:f>Sheet1!$B$1</c:f>
              <c:strCache>
                <c:ptCount val="1"/>
                <c:pt idx="0">
                  <c:v>Validation macro F1</c:v>
                </c:pt>
              </c:strCache>
            </c:strRef>
          </c:tx>
          <c:spPr>
            <a:solidFill>
              <a:srgbClr val="94A3B8"/>
            </a:solidFill>
            <a:effectLst/>
          </c:spPr>
          <c:invertIfNegative val="0"/>
          <c:dLbls>
            <c:numFmt formatCode="0.00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dPt>
            <c:idx val="7"/>
            <c:invertIfNegative val="0"/>
            <c:bubble3D val="0"/>
            <c:spPr>
              <a:solidFill>
                <a:srgbClr val="94A3B8"/>
              </a:solidFill>
              <a:effectLst/>
            </c:spPr>
          </c:dPt>
          <c:dPt>
            <c:idx val="8"/>
            <c:invertIfNegative val="0"/>
            <c:bubble3D val="0"/>
            <c:spPr>
              <a:solidFill>
                <a:srgbClr val="0F766E"/>
              </a:solidFill>
              <a:effectLst/>
            </c:spPr>
          </c:dPt>
          <c:cat>
            <c:multiLvlStrRef>
              <c:f>Sheet1!$A$2:$A$10</c:f>
              <c:multiLvlStrCache>
                <c:ptCount val="9"/>
                <c:lvl>
                  <c:pt idx="0">
                    <c:v>Majority</c:v>
                  </c:pt>
                  <c:pt idx="1">
                    <c:v>DistilBERT</c:v>
                  </c:pt>
                  <c:pt idx="2">
                    <c:v>Keyword</c:v>
                  </c:pt>
                  <c:pt idx="3">
                    <c:v>Resume only</c:v>
                  </c:pt>
                  <c:pt idx="4">
                    <c:v>LogReg</c:v>
                  </c:pt>
                  <c:pt idx="5">
                    <c:v>XGB 14 feat.</c:v>
                  </c:pt>
                  <c:pt idx="6">
                    <c:v>Rand. Forest</c:v>
                  </c:pt>
                  <c:pt idx="7">
                    <c:v>SBERT model</c:v>
                  </c:pt>
                  <c:pt idx="8">
                    <c:v>XGB hybrid</c:v>
                  </c:pt>
                </c:lvl>
              </c:multiLvlStrCache>
            </c:multiLvlStrRef>
          </c:cat>
          <c:val>
            <c:numRef>
              <c:f>Sheet1!$B$2:$B$10</c:f>
              <c:numCache>
                <c:formatCode>General</c:formatCode>
                <c:ptCount val="9"/>
                <c:pt idx="0">
                  <c:v>0.218</c:v>
                </c:pt>
                <c:pt idx="1">
                  <c:v>0.373</c:v>
                </c:pt>
                <c:pt idx="2">
                  <c:v>0.408</c:v>
                </c:pt>
                <c:pt idx="3">
                  <c:v>0.426</c:v>
                </c:pt>
                <c:pt idx="4">
                  <c:v>0.463</c:v>
                </c:pt>
                <c:pt idx="5">
                  <c:v>0.497</c:v>
                </c:pt>
                <c:pt idx="6">
                  <c:v>0.498</c:v>
                </c:pt>
                <c:pt idx="7">
                  <c:v>0.527</c:v>
                </c:pt>
                <c:pt idx="8">
                  <c:v>0.545</c:v>
                </c:pt>
              </c:numCache>
            </c:numRef>
          </c:val>
        </c:ser>
        <c:dLbls>
          <c:numFmt formatCode="0.00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0.7"/>
          <c:min val="0"/>
        </c:scaling>
        <c:delete val="1"/>
        <c:axPos val="b"/>
        <c:majorGridlines>
          <c:spPr>
            <a:ln w="9525"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Test macro F1 (1,759 pairs)</a:t>
            </a:r>
          </a:p>
        </c:rich>
      </c:tx>
      <c:layout/>
      <c:overlay val="0"/>
    </c:title>
    <c:autoTitleDeleted val="0"/>
    <c:plotArea>
      <c:layout/>
      <c:barChart>
        <c:barDir val="bar"/>
        <c:grouping val="clustered"/>
        <c:varyColors val="0"/>
        <c:ser>
          <c:idx val="0"/>
          <c:order val="0"/>
          <c:tx>
            <c:strRef>
              <c:f>Sheet1!$B$1</c:f>
              <c:strCache>
                <c:ptCount val="1"/>
                <c:pt idx="0">
                  <c:v>Test macro F1</c:v>
                </c:pt>
              </c:strCache>
            </c:strRef>
          </c:tx>
          <c:spPr>
            <a:solidFill>
              <a:srgbClr val="94A3B8"/>
            </a:solidFill>
            <a:effectLst/>
          </c:spPr>
          <c:invertIfNegative val="0"/>
          <c:dLbls>
            <c:numFmt formatCode="0.00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dPt>
            <c:idx val="7"/>
            <c:invertIfNegative val="0"/>
            <c:bubble3D val="0"/>
            <c:spPr>
              <a:solidFill>
                <a:srgbClr val="0F766E"/>
              </a:solidFill>
              <a:effectLst/>
            </c:spPr>
          </c:dPt>
          <c:cat>
            <c:multiLvlStrRef>
              <c:f>Sheet1!$A$2:$A$9</c:f>
              <c:multiLvlStrCache>
                <c:ptCount val="8"/>
                <c:lvl>
                  <c:pt idx="0">
                    <c:v>Majority</c:v>
                  </c:pt>
                  <c:pt idx="1">
                    <c:v>DistilBERT</c:v>
                  </c:pt>
                  <c:pt idx="2">
                    <c:v>Keyword</c:v>
                  </c:pt>
                  <c:pt idx="3">
                    <c:v>LogReg</c:v>
                  </c:pt>
                  <c:pt idx="4">
                    <c:v>Resume only</c:v>
                  </c:pt>
                  <c:pt idx="5">
                    <c:v>SBERT model</c:v>
                  </c:pt>
                  <c:pt idx="6">
                    <c:v>Rand. Forest</c:v>
                  </c:pt>
                  <c:pt idx="7">
                    <c:v>XGB hybrid</c:v>
                  </c:pt>
                </c:lvl>
              </c:multiLvlStrCache>
            </c:multiLvlStrRef>
          </c:cat>
          <c:val>
            <c:numRef>
              <c:f>Sheet1!$B$2:$B$9</c:f>
              <c:numCache>
                <c:formatCode>General</c:formatCode>
                <c:ptCount val="8"/>
                <c:pt idx="0">
                  <c:v>0.218</c:v>
                </c:pt>
                <c:pt idx="1">
                  <c:v>0.352</c:v>
                </c:pt>
                <c:pt idx="2">
                  <c:v>0.368</c:v>
                </c:pt>
                <c:pt idx="3">
                  <c:v>0.431</c:v>
                </c:pt>
                <c:pt idx="4">
                  <c:v>0.441</c:v>
                </c:pt>
                <c:pt idx="5">
                  <c:v>0.443</c:v>
                </c:pt>
                <c:pt idx="6">
                  <c:v>0.458</c:v>
                </c:pt>
                <c:pt idx="7">
                  <c:v>0.5</c:v>
                </c:pt>
              </c:numCache>
            </c:numRef>
          </c:val>
        </c:ser>
        <c:dLbls>
          <c:numFmt formatCode="0.00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0.65"/>
          <c:min val="0"/>
        </c:scaling>
        <c:delete val="1"/>
        <c:axPos val="b"/>
        <c:majorGridlines>
          <c:spPr>
            <a:ln w="9525"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builds a system that helps recruiters. You give it one job description and many resumes. It predicts how well each resume fits (No Fit, Potential Fit or Good Fit), ranks the candidates, and shows which required skills each candidate has and which are missing. Keyword search alone misses candidates who use different words, so the system also compares the meaning of the text. It supports the recruiter; it does not make the hiring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a public Hugging Face dataset with 8,000 records: 6,241 for training and 1,759 for testing. Each record is one long text that contains a job description and a resume, plus a label: No Fit, Potential Fit or Good Fit. I load it with the datasets library, and src/data_loader.py rebuilds all the splits. After cleaning, I have 5,285 training rows, 943 validation rows and 1,759 test rows. The validation set holds out whole job descriptions, because the test set only has jobs that never appear in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are about 50% No Fit and 25% each for Potential Fit and Good Fit, with the same balance in every split. The most important finding was label leakage: every training record ended with the answer, so I removed it. I also removed 12 rows with conflicting labels and one duplicate, cleaned emails, phone numbers and links, and fixed words stuck together. Test jobs never appear in training, so validation holds out whole jobs. Almost all texts are longer than BERT's limit, so long texts are split into chunks. Because classes are imbalanced, I use macro F1 and class weights. EDA also showed that simple word overlap rises only slightly from No Fit (0.178) to Good Fit (0.215), so keywords alone are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with simple baselines. Always predicting No Fit gives 0.218 macro F1. Keyword matching with TF-IDF gives 0.408. A check that uses only the resume, without the job, already gives 0.426, because resumes are reused across many jobs, so a real model must beat that. Random Forest on my 14 features reaches 0.498. The final model is an XGBoost hybrid. It uses 14 engineered features (skills, experience and text similarity) plus 32 values that compare the meaning of the job and the resume using Sentence-BERT embeddings. It outputs the label and a fit score used for ranking. It reached 0.545 on validation. I also fine-tuned DistilBERT, but it scored only 0.373 because it can read only 512 tokens of very long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tracked every run in experiments.csv with the model, features, settings, validation score and training time: 22 runs in total. I tuned only on the validation set and never touched the test set until the end. The table shows what I tried and what was chosen. The chart shows validation macro F1 for each model: the XGBoost hybrid is best at 0.545. An ablation study shows the value of the embeddings: the same XGBoost with only the 14 features scored 0.497, and adding the embedding components raised it to 0.545.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final results on the test set, which was never used before: 1,759 pairs from 71 jobs the model had never seen. The XGBoost hybrid is the best model with macro F1 0.500, compared with 0.368 for keyword matching. For shortlisting, about 2 out of every 3 candidates in the top 5 are real fits (Precision@5 0.662, versus 0.486 for random order), and NDCG@5 is 0.781. The confusion matrix shows No Fit is recognised well, but Good Fit is the hardest: the model found only 36% of Good Fit pairs, often calling them Potential Fit. Most mistakes are between neighbouring labels. Some labels look wrong, and the resume alone already scores 0.441, which limits how high any model can go. Test scores are a little lower than validation because validation was used to choose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runs locally, with no cloud and no GPU. The recruiter pastes a job description and uploads resumes. The app cleans the text with exactly the same rules as training, finds skills and experience, builds the features and embeddings, and the XGBoost model predicts the label and a fit score. Candidates are ranked by fit score, with matched and missing skills shown. A FastAPI service offers the same through /match and /health. For the demo, I use one real accounting job with four test resumes: three are predicted correctly and one is a failure case. resume_4 is actually Good Fit but predicted No Fit: it matches only 2 skills, misses audit and compliance, and has 4 years against 5 required. Even so, its fit score still ranks it above the true No Fit resume, which is why the tool is for shortlisting, not automatic rejection. A verification script showed the laptop gives exactly the same predictions as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the model often misses Good Fit, experience is estimated only from job dates, the labels partly depend on the resume itself and some look wrong, and short resumes are less reliable. Risks: it may not work as well on other industries, keyword skill matching can pick up noise, and recruiters might trust the score too much. Ethics: the model uses no personal details, only comparisons between the job and the resume. Performance is similar across experience levels, which matters because experience can relate to age. Cases with unknown experience should go to a human. Future work: read stated experience, smarter skill extraction, more embedding components or a reranker, and tuning the Good Fit threshold.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A4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ph idx="101" type="body" hasCustomPrompt="1"/>
          </p:nvPr>
        </p:nvSpPr>
        <p:spPr>
          <a:xfrm>
            <a:off x="548640" y="1005840"/>
            <a:ext cx="11064240" cy="457200"/>
          </a:xfrm>
          <a:prstGeom prst="rect">
            <a:avLst/>
          </a:prstGeom>
          <a:noFill/>
          <a:ln/>
        </p:spPr>
        <p:txBody>
          <a:bodyPr wrap="square" rtlCol="0"/>
          <a:lstStyle>
            <a:lvl1pPr indent="0" marL="0">
              <a:buNone/>
              <a:defRPr lang="en-US" sz="1600" i="1" dirty="0">
                <a:solidFill>
                  <a:schemeClr val="accent1"/>
                </a:solidFill>
              </a:defRPr>
            </a:lvl1pPr>
          </a:lstStyle>
          <a:p>
            <a:pPr indent="0" marL="0">
              <a:buNone/>
            </a:pPr>
            <a:endParaRPr lang="en-US" sz="16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Resume-JD Matching  |  Naveen  |  Batch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457200"/>
            <a:ext cx="10881360" cy="137160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Resume Screening and Job Description Matching</a:t>
            </a:r>
            <a:endParaRPr lang="en-US" sz="4000" dirty="0"/>
          </a:p>
        </p:txBody>
      </p:sp>
      <p:sp>
        <p:nvSpPr>
          <p:cNvPr id="3" name="Subtitle"/>
          <p:cNvSpPr txBox="1"/>
          <p:nvPr/>
        </p:nvSpPr>
        <p:spPr>
          <a:xfrm>
            <a:off x="640080" y="1965960"/>
            <a:ext cx="10881360" cy="457200"/>
          </a:xfrm>
          <a:prstGeom prst="rect">
            <a:avLst/>
          </a:prstGeom>
          <a:noFill/>
          <a:ln/>
        </p:spPr>
        <p:txBody>
          <a:bodyPr wrap="square" lIns="0" tIns="0" rIns="0" bIns="0" rtlCol="0" anchor="ctr"/>
          <a:lstStyle/>
          <a:p>
            <a:pPr indent="0" marL="0">
              <a:buNone/>
            </a:pPr>
            <a:r>
              <a:rPr lang="en-US" sz="2000" dirty="0">
                <a:solidFill>
                  <a:schemeClr val="accent4"/>
                </a:solidFill>
              </a:rPr>
              <a:t>An ML system that ranks resumes for a job and explains the skill gaps</a:t>
            </a:r>
            <a:endParaRPr lang="en-US" sz="2000" dirty="0"/>
          </a:p>
        </p:txBody>
      </p:sp>
      <p:sp>
        <p:nvSpPr>
          <p:cNvPr id="4" name="Presenter"/>
          <p:cNvSpPr txBox="1"/>
          <p:nvPr/>
        </p:nvSpPr>
        <p:spPr>
          <a:xfrm>
            <a:off x="640080" y="2468880"/>
            <a:ext cx="10881360" cy="365760"/>
          </a:xfrm>
          <a:prstGeom prst="rect">
            <a:avLst/>
          </a:prstGeom>
          <a:noFill/>
          <a:ln/>
        </p:spPr>
        <p:txBody>
          <a:bodyPr wrap="square" lIns="0" tIns="0" rIns="0" bIns="0" rtlCol="0" anchor="ctr"/>
          <a:lstStyle/>
          <a:p>
            <a:pPr indent="0" marL="0">
              <a:buNone/>
            </a:pPr>
            <a:r>
              <a:rPr lang="en-US" sz="1400" dirty="0">
                <a:solidFill>
                  <a:schemeClr val="accent6"/>
                </a:solidFill>
              </a:rPr>
              <a:t>Naveen  |  Batch 3  |  Data Science &amp; AI/ML Capstone, Problem Statement 5</a:t>
            </a:r>
            <a:endParaRPr lang="en-US" sz="1400" dirty="0"/>
          </a:p>
        </p:txBody>
      </p:sp>
      <p:sp>
        <p:nvSpPr>
          <p:cNvPr id="5" name="Context card 1"/>
          <p:cNvSpPr/>
          <p:nvPr/>
        </p:nvSpPr>
        <p:spPr>
          <a:xfrm>
            <a:off x="640080" y="3017520"/>
            <a:ext cx="3429000" cy="2834640"/>
          </a:xfrm>
          <a:prstGeom prst="roundRect">
            <a:avLst>
              <a:gd name="adj" fmla="val 3871"/>
            </a:avLst>
          </a:prstGeom>
          <a:solidFill>
            <a:srgbClr val="2B3A5C"/>
          </a:solidFill>
          <a:ln w="12700">
            <a:solidFill>
              <a:srgbClr val="2B3A5C"/>
            </a:solidFill>
            <a:prstDash val="solid"/>
          </a:ln>
        </p:spPr>
      </p:sp>
      <p:sp>
        <p:nvSpPr>
          <p:cNvPr id="6" name="Context 1 circle"/>
          <p:cNvSpPr/>
          <p:nvPr/>
        </p:nvSpPr>
        <p:spPr>
          <a:xfrm>
            <a:off x="914400" y="3291840"/>
            <a:ext cx="685800" cy="685800"/>
          </a:xfrm>
          <a:prstGeom prst="ellipse">
            <a:avLst/>
          </a:prstGeom>
          <a:solidFill>
            <a:srgbClr val="0F766E"/>
          </a:solidFill>
          <a:ln w="12700">
            <a:solidFill>
              <a:srgbClr val="0F766E"/>
            </a:solidFill>
            <a:prstDash val="solid"/>
          </a:ln>
        </p:spPr>
      </p:sp>
      <p:pic>
        <p:nvPicPr>
          <p:cNvPr id="7" name="Context 1 icon" descr="preencoded.png">    </p:cNvPr>
          <p:cNvPicPr>
            <a:picLocks noChangeAspect="1"/>
          </p:cNvPicPr>
          <p:nvPr/>
        </p:nvPicPr>
        <p:blipFill>
          <a:blip r:embed="rId1"/>
          <a:stretch>
            <a:fillRect/>
          </a:stretch>
        </p:blipFill>
        <p:spPr>
          <a:xfrm>
            <a:off x="1085850" y="3463290"/>
            <a:ext cx="342900" cy="342900"/>
          </a:xfrm>
          <a:prstGeom prst="rect">
            <a:avLst/>
          </a:prstGeom>
        </p:spPr>
      </p:pic>
      <p:sp>
        <p:nvSpPr>
          <p:cNvPr id="8" name="Context head 1"/>
          <p:cNvSpPr txBox="1"/>
          <p:nvPr/>
        </p:nvSpPr>
        <p:spPr>
          <a:xfrm>
            <a:off x="914400" y="4114800"/>
            <a:ext cx="2880360" cy="411480"/>
          </a:xfrm>
          <a:prstGeom prst="rect">
            <a:avLst/>
          </a:prstGeom>
          <a:noFill/>
          <a:ln/>
        </p:spPr>
        <p:txBody>
          <a:bodyPr wrap="square" lIns="0" tIns="0" rIns="0" bIns="0" rtlCol="0" anchor="ctr"/>
          <a:lstStyle/>
          <a:p>
            <a:pPr indent="0" marL="0">
              <a:buNone/>
            </a:pPr>
            <a:r>
              <a:rPr lang="en-US" sz="1800" b="1" dirty="0">
                <a:solidFill>
                  <a:schemeClr val="bg1"/>
                </a:solidFill>
              </a:rPr>
              <a:t>The problem</a:t>
            </a:r>
            <a:endParaRPr lang="en-US" sz="1800" dirty="0"/>
          </a:p>
        </p:txBody>
      </p:sp>
      <p:sp>
        <p:nvSpPr>
          <p:cNvPr id="9" name="Context body 1"/>
          <p:cNvSpPr txBox="1"/>
          <p:nvPr/>
        </p:nvSpPr>
        <p:spPr>
          <a:xfrm>
            <a:off x="914400" y="4572000"/>
            <a:ext cx="2880360" cy="1143000"/>
          </a:xfrm>
          <a:prstGeom prst="rect">
            <a:avLst/>
          </a:prstGeom>
          <a:noFill/>
          <a:ln/>
        </p:spPr>
        <p:txBody>
          <a:bodyPr wrap="square" lIns="0" tIns="0" rIns="0" bIns="0" rtlCol="0" anchor="t"/>
          <a:lstStyle/>
          <a:p>
            <a:pPr indent="0" marL="0">
              <a:buNone/>
            </a:pPr>
            <a:r>
              <a:rPr lang="en-US" sz="1400" dirty="0">
                <a:solidFill>
                  <a:srgbClr val="CBD5E1"/>
                </a:solidFill>
              </a:rPr>
              <a:t>Recruiters read hundreds of resumes by hand. It is slow, and different reviewers judge differently.</a:t>
            </a:r>
            <a:endParaRPr lang="en-US" sz="1400" dirty="0"/>
          </a:p>
        </p:txBody>
      </p:sp>
      <p:sp>
        <p:nvSpPr>
          <p:cNvPr id="10" name="Context card 2"/>
          <p:cNvSpPr/>
          <p:nvPr/>
        </p:nvSpPr>
        <p:spPr>
          <a:xfrm>
            <a:off x="4325112" y="3017520"/>
            <a:ext cx="3429000" cy="2834640"/>
          </a:xfrm>
          <a:prstGeom prst="roundRect">
            <a:avLst>
              <a:gd name="adj" fmla="val 3871"/>
            </a:avLst>
          </a:prstGeom>
          <a:solidFill>
            <a:srgbClr val="2B3A5C"/>
          </a:solidFill>
          <a:ln w="12700">
            <a:solidFill>
              <a:srgbClr val="2B3A5C"/>
            </a:solidFill>
            <a:prstDash val="solid"/>
          </a:ln>
        </p:spPr>
      </p:sp>
      <p:sp>
        <p:nvSpPr>
          <p:cNvPr id="11" name="Context 2 circle"/>
          <p:cNvSpPr/>
          <p:nvPr/>
        </p:nvSpPr>
        <p:spPr>
          <a:xfrm>
            <a:off x="4599432" y="3291840"/>
            <a:ext cx="685800" cy="685800"/>
          </a:xfrm>
          <a:prstGeom prst="ellipse">
            <a:avLst/>
          </a:prstGeom>
          <a:solidFill>
            <a:srgbClr val="0F766E"/>
          </a:solidFill>
          <a:ln w="12700">
            <a:solidFill>
              <a:srgbClr val="0F766E"/>
            </a:solidFill>
            <a:prstDash val="solid"/>
          </a:ln>
        </p:spPr>
      </p:sp>
      <p:pic>
        <p:nvPicPr>
          <p:cNvPr id="12" name="Context 2 icon" descr="preencoded.png">    </p:cNvPr>
          <p:cNvPicPr>
            <a:picLocks noChangeAspect="1"/>
          </p:cNvPicPr>
          <p:nvPr/>
        </p:nvPicPr>
        <p:blipFill>
          <a:blip r:embed="rId2"/>
          <a:stretch>
            <a:fillRect/>
          </a:stretch>
        </p:blipFill>
        <p:spPr>
          <a:xfrm>
            <a:off x="4770882" y="3463290"/>
            <a:ext cx="342900" cy="342900"/>
          </a:xfrm>
          <a:prstGeom prst="rect">
            <a:avLst/>
          </a:prstGeom>
        </p:spPr>
      </p:pic>
      <p:sp>
        <p:nvSpPr>
          <p:cNvPr id="13" name="Context head 2"/>
          <p:cNvSpPr txBox="1"/>
          <p:nvPr/>
        </p:nvSpPr>
        <p:spPr>
          <a:xfrm>
            <a:off x="4599432" y="4114800"/>
            <a:ext cx="2880360" cy="411480"/>
          </a:xfrm>
          <a:prstGeom prst="rect">
            <a:avLst/>
          </a:prstGeom>
          <a:noFill/>
          <a:ln/>
        </p:spPr>
        <p:txBody>
          <a:bodyPr wrap="square" lIns="0" tIns="0" rIns="0" bIns="0" rtlCol="0" anchor="ctr"/>
          <a:lstStyle/>
          <a:p>
            <a:pPr indent="0" marL="0">
              <a:buNone/>
            </a:pPr>
            <a:r>
              <a:rPr lang="en-US" sz="1800" b="1" dirty="0">
                <a:solidFill>
                  <a:schemeClr val="bg1"/>
                </a:solidFill>
              </a:rPr>
              <a:t>Why keywords fail</a:t>
            </a:r>
            <a:endParaRPr lang="en-US" sz="1800" dirty="0"/>
          </a:p>
        </p:txBody>
      </p:sp>
      <p:sp>
        <p:nvSpPr>
          <p:cNvPr id="14" name="Context body 2"/>
          <p:cNvSpPr txBox="1"/>
          <p:nvPr/>
        </p:nvSpPr>
        <p:spPr>
          <a:xfrm>
            <a:off x="4599432" y="4572000"/>
            <a:ext cx="2880360" cy="1143000"/>
          </a:xfrm>
          <a:prstGeom prst="rect">
            <a:avLst/>
          </a:prstGeom>
          <a:noFill/>
          <a:ln/>
        </p:spPr>
        <p:txBody>
          <a:bodyPr wrap="square" lIns="0" tIns="0" rIns="0" bIns="0" rtlCol="0" anchor="t"/>
          <a:lstStyle/>
          <a:p>
            <a:pPr indent="0" marL="0">
              <a:buNone/>
            </a:pPr>
            <a:r>
              <a:rPr lang="en-US" sz="1400" dirty="0">
                <a:solidFill>
                  <a:srgbClr val="CBD5E1"/>
                </a:solidFill>
              </a:rPr>
              <a:t>Simple keyword search misses good candidates who describe the same skill in other words.</a:t>
            </a:r>
            <a:endParaRPr lang="en-US" sz="1400" dirty="0"/>
          </a:p>
        </p:txBody>
      </p:sp>
      <p:sp>
        <p:nvSpPr>
          <p:cNvPr id="15" name="Context card 3"/>
          <p:cNvSpPr/>
          <p:nvPr/>
        </p:nvSpPr>
        <p:spPr>
          <a:xfrm>
            <a:off x="8010144" y="3017520"/>
            <a:ext cx="3429000" cy="2834640"/>
          </a:xfrm>
          <a:prstGeom prst="roundRect">
            <a:avLst>
              <a:gd name="adj" fmla="val 3871"/>
            </a:avLst>
          </a:prstGeom>
          <a:solidFill>
            <a:srgbClr val="2B3A5C"/>
          </a:solidFill>
          <a:ln w="12700">
            <a:solidFill>
              <a:srgbClr val="2B3A5C"/>
            </a:solidFill>
            <a:prstDash val="solid"/>
          </a:ln>
        </p:spPr>
      </p:sp>
      <p:sp>
        <p:nvSpPr>
          <p:cNvPr id="16" name="Context 3 circle"/>
          <p:cNvSpPr/>
          <p:nvPr/>
        </p:nvSpPr>
        <p:spPr>
          <a:xfrm>
            <a:off x="8284464" y="3291840"/>
            <a:ext cx="685800" cy="685800"/>
          </a:xfrm>
          <a:prstGeom prst="ellipse">
            <a:avLst/>
          </a:prstGeom>
          <a:solidFill>
            <a:srgbClr val="0F766E"/>
          </a:solidFill>
          <a:ln w="12700">
            <a:solidFill>
              <a:srgbClr val="0F766E"/>
            </a:solidFill>
            <a:prstDash val="solid"/>
          </a:ln>
        </p:spPr>
      </p:sp>
      <p:pic>
        <p:nvPicPr>
          <p:cNvPr id="17" name="Context 3 icon" descr="preencoded.png">    </p:cNvPr>
          <p:cNvPicPr>
            <a:picLocks noChangeAspect="1"/>
          </p:cNvPicPr>
          <p:nvPr/>
        </p:nvPicPr>
        <p:blipFill>
          <a:blip r:embed="rId3"/>
          <a:stretch>
            <a:fillRect/>
          </a:stretch>
        </p:blipFill>
        <p:spPr>
          <a:xfrm>
            <a:off x="8455914" y="3463290"/>
            <a:ext cx="342900" cy="342900"/>
          </a:xfrm>
          <a:prstGeom prst="rect">
            <a:avLst/>
          </a:prstGeom>
        </p:spPr>
      </p:pic>
      <p:sp>
        <p:nvSpPr>
          <p:cNvPr id="18" name="Context head 3"/>
          <p:cNvSpPr txBox="1"/>
          <p:nvPr/>
        </p:nvSpPr>
        <p:spPr>
          <a:xfrm>
            <a:off x="8284464" y="4114800"/>
            <a:ext cx="2880360" cy="411480"/>
          </a:xfrm>
          <a:prstGeom prst="rect">
            <a:avLst/>
          </a:prstGeom>
          <a:noFill/>
          <a:ln/>
        </p:spPr>
        <p:txBody>
          <a:bodyPr wrap="square" lIns="0" tIns="0" rIns="0" bIns="0" rtlCol="0" anchor="ctr"/>
          <a:lstStyle/>
          <a:p>
            <a:pPr indent="0" marL="0">
              <a:buNone/>
            </a:pPr>
            <a:r>
              <a:rPr lang="en-US" sz="1800" b="1" dirty="0">
                <a:solidFill>
                  <a:schemeClr val="bg1"/>
                </a:solidFill>
              </a:rPr>
              <a:t>The goal</a:t>
            </a:r>
            <a:endParaRPr lang="en-US" sz="1800" dirty="0"/>
          </a:p>
        </p:txBody>
      </p:sp>
      <p:sp>
        <p:nvSpPr>
          <p:cNvPr id="19" name="Context body 3"/>
          <p:cNvSpPr txBox="1"/>
          <p:nvPr/>
        </p:nvSpPr>
        <p:spPr>
          <a:xfrm>
            <a:off x="8284464" y="4572000"/>
            <a:ext cx="2880360" cy="1143000"/>
          </a:xfrm>
          <a:prstGeom prst="rect">
            <a:avLst/>
          </a:prstGeom>
          <a:noFill/>
          <a:ln/>
        </p:spPr>
        <p:txBody>
          <a:bodyPr wrap="square" lIns="0" tIns="0" rIns="0" bIns="0" rtlCol="0" anchor="t"/>
          <a:lstStyle/>
          <a:p>
            <a:pPr indent="0" marL="0">
              <a:buNone/>
            </a:pPr>
            <a:r>
              <a:rPr lang="en-US" sz="1400" dirty="0">
                <a:solidFill>
                  <a:srgbClr val="CBD5E1"/>
                </a:solidFill>
              </a:rPr>
              <a:t>Predict fit (No / Potential / Good), rank candidates for a job, and show matched and missing skills.</a:t>
            </a:r>
            <a:endParaRPr lang="en-US" sz="1400" dirty="0"/>
          </a:p>
        </p:txBody>
      </p:sp>
      <p:sp>
        <p:nvSpPr>
          <p:cNvPr id="20" name="Decision support note"/>
          <p:cNvSpPr txBox="1"/>
          <p:nvPr/>
        </p:nvSpPr>
        <p:spPr>
          <a:xfrm>
            <a:off x="640080" y="6126480"/>
            <a:ext cx="10881360" cy="365760"/>
          </a:xfrm>
          <a:prstGeom prst="rect">
            <a:avLst/>
          </a:prstGeom>
          <a:noFill/>
          <a:ln/>
        </p:spPr>
        <p:txBody>
          <a:bodyPr wrap="square" lIns="0" tIns="0" rIns="0" bIns="0" rtlCol="0" anchor="ctr"/>
          <a:lstStyle/>
          <a:p>
            <a:pPr indent="0" marL="0">
              <a:buNone/>
            </a:pPr>
            <a:r>
              <a:rPr lang="en-US" sz="1300" i="1" dirty="0">
                <a:solidFill>
                  <a:schemeClr val="accent2"/>
                </a:solidFill>
              </a:rPr>
              <a:t>Decision support only: the final hiring decision stays with the recruiter.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Dataset</a:t>
            </a:r>
            <a:endParaRPr lang="en-US" sz="34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8,000 labelled job description and resume pairs from Hugging Face</a:t>
            </a:r>
            <a:endParaRPr lang="en-US" sz="1600" dirty="0"/>
          </a:p>
        </p:txBody>
      </p:sp>
      <p:sp>
        <p:nvSpPr>
          <p:cNvPr id="4" name="Stat 1"/>
          <p:cNvSpPr txBox="1"/>
          <p:nvPr/>
        </p:nvSpPr>
        <p:spPr>
          <a:xfrm>
            <a:off x="548640" y="1691640"/>
            <a:ext cx="17373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8,000</a:t>
            </a:r>
            <a:endParaRPr lang="en-US" sz="4000" dirty="0"/>
          </a:p>
        </p:txBody>
      </p:sp>
      <p:sp>
        <p:nvSpPr>
          <p:cNvPr id="5" name="Stat label 1"/>
          <p:cNvSpPr txBox="1"/>
          <p:nvPr/>
        </p:nvSpPr>
        <p:spPr>
          <a:xfrm>
            <a:off x="2331720" y="1691640"/>
            <a:ext cx="3108960" cy="685800"/>
          </a:xfrm>
          <a:prstGeom prst="rect">
            <a:avLst/>
          </a:prstGeom>
          <a:noFill/>
          <a:ln/>
        </p:spPr>
        <p:txBody>
          <a:bodyPr wrap="square" lIns="0" tIns="0" rIns="0" bIns="0" rtlCol="0" anchor="ctr"/>
          <a:lstStyle/>
          <a:p>
            <a:pPr indent="0" marL="0">
              <a:buNone/>
            </a:pPr>
            <a:r>
              <a:rPr lang="en-US" sz="1500" dirty="0">
                <a:solidFill>
                  <a:schemeClr val="tx1"/>
                </a:solidFill>
              </a:rPr>
              <a:t>records (6,241 train, 1,759 test)</a:t>
            </a:r>
            <a:endParaRPr lang="en-US" sz="1500" dirty="0"/>
          </a:p>
        </p:txBody>
      </p:sp>
      <p:sp>
        <p:nvSpPr>
          <p:cNvPr id="6" name="Stat 2"/>
          <p:cNvSpPr txBox="1"/>
          <p:nvPr/>
        </p:nvSpPr>
        <p:spPr>
          <a:xfrm>
            <a:off x="548640" y="2715768"/>
            <a:ext cx="17373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7" name="Stat label 2"/>
          <p:cNvSpPr txBox="1"/>
          <p:nvPr/>
        </p:nvSpPr>
        <p:spPr>
          <a:xfrm>
            <a:off x="2331720" y="2715768"/>
            <a:ext cx="3108960" cy="685800"/>
          </a:xfrm>
          <a:prstGeom prst="rect">
            <a:avLst/>
          </a:prstGeom>
          <a:noFill/>
          <a:ln/>
        </p:spPr>
        <p:txBody>
          <a:bodyPr wrap="square" lIns="0" tIns="0" rIns="0" bIns="0" rtlCol="0" anchor="ctr"/>
          <a:lstStyle/>
          <a:p>
            <a:pPr indent="0" marL="0">
              <a:buNone/>
            </a:pPr>
            <a:r>
              <a:rPr lang="en-US" sz="1500" dirty="0">
                <a:solidFill>
                  <a:schemeClr val="tx1"/>
                </a:solidFill>
              </a:rPr>
              <a:t>labels: No Fit, Potential Fit, Good Fit</a:t>
            </a:r>
            <a:endParaRPr lang="en-US" sz="1500" dirty="0"/>
          </a:p>
        </p:txBody>
      </p:sp>
      <p:sp>
        <p:nvSpPr>
          <p:cNvPr id="8" name="Stat 3"/>
          <p:cNvSpPr txBox="1"/>
          <p:nvPr/>
        </p:nvSpPr>
        <p:spPr>
          <a:xfrm>
            <a:off x="548640" y="3739896"/>
            <a:ext cx="17373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351</a:t>
            </a:r>
            <a:endParaRPr lang="en-US" sz="4000" dirty="0"/>
          </a:p>
        </p:txBody>
      </p:sp>
      <p:sp>
        <p:nvSpPr>
          <p:cNvPr id="9" name="Stat label 3"/>
          <p:cNvSpPr txBox="1"/>
          <p:nvPr/>
        </p:nvSpPr>
        <p:spPr>
          <a:xfrm>
            <a:off x="2331720" y="3739896"/>
            <a:ext cx="3108960" cy="685800"/>
          </a:xfrm>
          <a:prstGeom prst="rect">
            <a:avLst/>
          </a:prstGeom>
          <a:noFill/>
          <a:ln/>
        </p:spPr>
        <p:txBody>
          <a:bodyPr wrap="square" lIns="0" tIns="0" rIns="0" bIns="0" rtlCol="0" anchor="ctr"/>
          <a:lstStyle/>
          <a:p>
            <a:pPr indent="0" marL="0">
              <a:buNone/>
            </a:pPr>
            <a:r>
              <a:rPr lang="en-US" sz="1500" dirty="0">
                <a:solidFill>
                  <a:schemeClr val="tx1"/>
                </a:solidFill>
              </a:rPr>
              <a:t>different job descriptions</a:t>
            </a:r>
            <a:endParaRPr lang="en-US" sz="1500" dirty="0"/>
          </a:p>
        </p:txBody>
      </p:sp>
      <p:sp>
        <p:nvSpPr>
          <p:cNvPr id="10" name="Source card"/>
          <p:cNvSpPr/>
          <p:nvPr/>
        </p:nvSpPr>
        <p:spPr>
          <a:xfrm>
            <a:off x="548640" y="4846320"/>
            <a:ext cx="4892040" cy="1325880"/>
          </a:xfrm>
          <a:prstGeom prst="roundRect">
            <a:avLst>
              <a:gd name="adj" fmla="val 8276"/>
            </a:avLst>
          </a:prstGeom>
          <a:solidFill>
            <a:schemeClr val="bg2"/>
          </a:solidFill>
          <a:ln w="12700">
            <a:solidFill>
              <a:schemeClr val="bg2"/>
            </a:solidFill>
            <a:prstDash val="solid"/>
          </a:ln>
        </p:spPr>
      </p:sp>
      <p:sp>
        <p:nvSpPr>
          <p:cNvPr id="11" name="Source text"/>
          <p:cNvSpPr txBox="1"/>
          <p:nvPr/>
        </p:nvSpPr>
        <p:spPr>
          <a:xfrm>
            <a:off x="731520" y="4937760"/>
            <a:ext cx="4572000" cy="1143000"/>
          </a:xfrm>
          <a:prstGeom prst="rect">
            <a:avLst/>
          </a:prstGeom>
          <a:noFill/>
          <a:ln/>
        </p:spPr>
        <p:txBody>
          <a:bodyPr wrap="square" lIns="0" tIns="0" rIns="0" bIns="0" rtlCol="0" anchor="ctr"/>
          <a:lstStyle/>
          <a:p>
            <a:pPr indent="0" marL="0">
              <a:spcAft>
                <a:spcPts val="400"/>
              </a:spcAft>
              <a:buNone/>
            </a:pPr>
            <a:r>
              <a:rPr lang="en-US" sz="1300" b="1" dirty="0">
                <a:solidFill>
                  <a:schemeClr val="tx1"/>
                </a:solidFill>
              </a:rPr>
              <a:t>Source: </a:t>
            </a:r>
            <a:pPr indent="0" marL="0">
              <a:spcAft>
                <a:spcPts val="400"/>
              </a:spcAft>
              <a:buNone/>
            </a:pPr>
            <a:r>
              <a:rPr lang="en-US" sz="1300" dirty="0">
                <a:solidFill>
                  <a:schemeClr val="tx1"/>
                </a:solidFill>
              </a:rPr>
              <a:t>huggingface.co/datasets/facehuggerapoorv/resume-jd-match</a:t>
            </a:r>
            <a:endParaRPr lang="en-US" sz="1300" dirty="0"/>
          </a:p>
          <a:p>
            <a:pPr indent="0" marL="0">
              <a:spcAft>
                <a:spcPts val="400"/>
              </a:spcAft>
              <a:buNone/>
            </a:pPr>
            <a:r>
              <a:rPr lang="en-US" sz="1300" b="1" dirty="0">
                <a:solidFill>
                  <a:schemeClr val="tx1"/>
                </a:solidFill>
              </a:rPr>
              <a:t>Access: </a:t>
            </a:r>
            <a:pPr indent="0" marL="0">
              <a:spcAft>
                <a:spcPts val="400"/>
              </a:spcAft>
              <a:buNone/>
            </a:pPr>
            <a:r>
              <a:rPr lang="en-US" sz="1300" dirty="0">
                <a:solidFill>
                  <a:schemeClr val="tx1"/>
                </a:solidFill>
              </a:rPr>
              <a:t>load_dataset() in Python; src/data_loader.py rebuilds all splits</a:t>
            </a:r>
            <a:endParaRPr lang="en-US" sz="1300" dirty="0"/>
          </a:p>
        </p:txBody>
      </p:sp>
      <p:sp>
        <p:nvSpPr>
          <p:cNvPr id="12" name="Sample heading"/>
          <p:cNvSpPr txBox="1"/>
          <p:nvPr/>
        </p:nvSpPr>
        <p:spPr>
          <a:xfrm>
            <a:off x="5852160" y="1691640"/>
            <a:ext cx="5760720" cy="320040"/>
          </a:xfrm>
          <a:prstGeom prst="rect">
            <a:avLst/>
          </a:prstGeom>
          <a:noFill/>
          <a:ln/>
        </p:spPr>
        <p:txBody>
          <a:bodyPr wrap="square" lIns="0" tIns="0" rIns="0" bIns="0" rtlCol="0" anchor="ctr"/>
          <a:lstStyle/>
          <a:p>
            <a:pPr indent="0" marL="0">
              <a:buNone/>
            </a:pPr>
            <a:r>
              <a:rPr lang="en-US" sz="1400" b="1" dirty="0">
                <a:solidFill>
                  <a:schemeClr val="tx2"/>
                </a:solidFill>
              </a:rPr>
              <a:t>Sample record (each row is one text field + a label)</a:t>
            </a:r>
            <a:endParaRPr lang="en-US" sz="1400" dirty="0"/>
          </a:p>
        </p:txBody>
      </p:sp>
      <p:sp>
        <p:nvSpPr>
          <p:cNvPr id="13" name="Sample card"/>
          <p:cNvSpPr/>
          <p:nvPr/>
        </p:nvSpPr>
        <p:spPr>
          <a:xfrm>
            <a:off x="5852160" y="2057400"/>
            <a:ext cx="5760720" cy="2148840"/>
          </a:xfrm>
          <a:prstGeom prst="roundRect">
            <a:avLst>
              <a:gd name="adj" fmla="val 5106"/>
            </a:avLst>
          </a:prstGeom>
          <a:solidFill>
            <a:schemeClr val="bg2"/>
          </a:solidFill>
          <a:ln w="12700">
            <a:solidFill>
              <a:schemeClr val="bg2"/>
            </a:solidFill>
            <a:prstDash val="solid"/>
          </a:ln>
        </p:spPr>
      </p:sp>
      <p:sp>
        <p:nvSpPr>
          <p:cNvPr id="14" name="Sample text"/>
          <p:cNvSpPr txBox="1"/>
          <p:nvPr/>
        </p:nvSpPr>
        <p:spPr>
          <a:xfrm>
            <a:off x="6035040" y="2148840"/>
            <a:ext cx="5394960" cy="1965960"/>
          </a:xfrm>
          <a:prstGeom prst="rect">
            <a:avLst/>
          </a:prstGeom>
          <a:noFill/>
          <a:ln/>
        </p:spPr>
        <p:txBody>
          <a:bodyPr wrap="square" lIns="0" tIns="0" rIns="0" bIns="0" rtlCol="0" anchor="ctr"/>
          <a:lstStyle/>
          <a:p>
            <a:pPr indent="0" marL="0">
              <a:buNone/>
            </a:pPr>
            <a:r>
              <a:rPr lang="en-US" sz="1200" dirty="0">
                <a:solidFill>
                  <a:srgbClr val="64748B"/>
                </a:solidFill>
                <a:latin typeface="Courier New" pitchFamily="34" charset="0"/>
                <a:ea typeface="Courier New" pitchFamily="34" charset="-122"/>
                <a:cs typeface="Courier New" pitchFamily="34" charset="-120"/>
              </a:rPr>
              <a:t>For the given job description &lt;&lt;</a:t>
            </a:r>
            <a:pPr indent="0" marL="0">
              <a:buNone/>
            </a:pPr>
            <a:r>
              <a:rPr lang="en-US" sz="1200" dirty="0">
                <a:solidFill>
                  <a:srgbClr val="1E293B"/>
                </a:solidFill>
                <a:latin typeface="Courier New" pitchFamily="34" charset="0"/>
                <a:ea typeface="Courier New" pitchFamily="34" charset="-122"/>
                <a:cs typeface="Courier New" pitchFamily="34" charset="-120"/>
              </a:rPr>
              <a:t>Role: Basel Business Analyst ... 6+ years of relevant technical and business work experience ... SQL ...</a:t>
            </a:r>
            <a:pPr indent="0" marL="0">
              <a:buNone/>
            </a:pPr>
            <a:r>
              <a:rPr lang="en-US" sz="1200" dirty="0">
                <a:solidFill>
                  <a:srgbClr val="64748B"/>
                </a:solidFill>
                <a:latin typeface="Courier New" pitchFamily="34" charset="0"/>
                <a:ea typeface="Courier New" pitchFamily="34" charset="-122"/>
                <a:cs typeface="Courier New" pitchFamily="34" charset="-120"/>
              </a:rPr>
              <a:t>&gt;&gt; the resume: &lt;&lt;</a:t>
            </a:r>
            <a:pPr indent="0" marL="0">
              <a:buNone/>
            </a:pPr>
            <a:r>
              <a:rPr lang="en-US" sz="1200" dirty="0">
                <a:solidFill>
                  <a:srgbClr val="1E293B"/>
                </a:solidFill>
                <a:latin typeface="Courier New" pitchFamily="34" charset="0"/>
                <a:ea typeface="Courier New" pitchFamily="34" charset="-122"/>
                <a:cs typeface="Courier New" pitchFamily="34" charset="-120"/>
              </a:rPr>
              <a:t>Summary Highly motivated Sales Associate with extensive customer service and sales experience ...</a:t>
            </a:r>
            <a:pPr indent="0" marL="0">
              <a:buNone/>
            </a:pPr>
            <a:r>
              <a:rPr lang="en-US" sz="1200" dirty="0">
                <a:solidFill>
                  <a:srgbClr val="64748B"/>
                </a:solidFill>
                <a:latin typeface="Courier New" pitchFamily="34" charset="0"/>
                <a:ea typeface="Courier New" pitchFamily="34" charset="-122"/>
                <a:cs typeface="Courier New" pitchFamily="34" charset="-120"/>
              </a:rPr>
              <a:t>&gt;&gt;. The result is, </a:t>
            </a:r>
            <a:pPr indent="0" marL="0">
              <a:buNone/>
            </a:pPr>
            <a:r>
              <a:rPr lang="en-US" sz="1200" b="1" dirty="0">
                <a:solidFill>
                  <a:srgbClr val="B45309"/>
                </a:solidFill>
                <a:latin typeface="Courier New" pitchFamily="34" charset="0"/>
                <a:ea typeface="Courier New" pitchFamily="34" charset="-122"/>
                <a:cs typeface="Courier New" pitchFamily="34" charset="-120"/>
              </a:rPr>
              <a:t>No Fit</a:t>
            </a:r>
            <a:endParaRPr lang="en-US" sz="1200" dirty="0"/>
          </a:p>
        </p:txBody>
      </p:sp>
      <p:sp>
        <p:nvSpPr>
          <p:cNvPr id="15" name="Splits heading"/>
          <p:cNvSpPr txBox="1"/>
          <p:nvPr/>
        </p:nvSpPr>
        <p:spPr>
          <a:xfrm>
            <a:off x="5852160" y="4389120"/>
            <a:ext cx="5760720" cy="320040"/>
          </a:xfrm>
          <a:prstGeom prst="rect">
            <a:avLst/>
          </a:prstGeom>
          <a:noFill/>
          <a:ln/>
        </p:spPr>
        <p:txBody>
          <a:bodyPr wrap="square" lIns="0" tIns="0" rIns="0" bIns="0" rtlCol="0" anchor="ctr"/>
          <a:lstStyle/>
          <a:p>
            <a:pPr indent="0" marL="0">
              <a:buNone/>
            </a:pPr>
            <a:r>
              <a:rPr lang="en-US" sz="1400" b="1" dirty="0">
                <a:solidFill>
                  <a:schemeClr val="tx2"/>
                </a:solidFill>
              </a:rPr>
              <a:t>Splits used (validation holds out whole jobs, like the test set)</a:t>
            </a:r>
            <a:endParaRPr lang="en-US" sz="1400" dirty="0"/>
          </a:p>
        </p:txBody>
      </p:sp>
      <p:graphicFrame>
        <p:nvGraphicFramePr>
          <p:cNvPr id="3" name="Splits table"/>
          <p:cNvGraphicFramePr>
            <a:graphicFrameLocks noGrp="1"/>
          </p:cNvGraphicFramePr>
          <p:nvPr>
            <p:extLst>
              <p:ext uri="{D42A27DB-BD31-4B8C-83A1-F6EECF244321}">
                <p14:modId xmlns:p14="http://schemas.microsoft.com/office/powerpoint/2010/main" val="1579011935"/>
              </p:ext>
            </p:extLst>
          </p:nvPr>
        </p:nvGraphicFramePr>
        <p:xfrm>
          <a:off x="5852160" y="4754880"/>
          <a:ext cx="5760720" cy="914400"/>
        </p:xfrm>
        <a:graphic>
          <a:graphicData uri="http://schemas.openxmlformats.org/drawingml/2006/table">
            <a:tbl>
              <a:tblPr/>
              <a:tblGrid>
                <a:gridCol w="2286000"/>
                <a:gridCol w="1463040"/>
                <a:gridCol w="2011680"/>
              </a:tblGrid>
              <a:tr h="329184">
                <a:tc>
                  <a:txBody>
                    <a:bodyPr/>
                    <a:lstStyle/>
                    <a:p>
                      <a:pPr indent="0" marL="0">
                        <a:buNone/>
                      </a:pPr>
                      <a:r>
                        <a:rPr lang="en-US" sz="1300" b="1" dirty="0">
                          <a:solidFill>
                            <a:srgbClr val="FFFFFF"/>
                          </a:solidFill>
                        </a:rPr>
                        <a:t>Split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rPr>
                        <a:t>Rows</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rPr>
                        <a:t>Job descriptions</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r>
              <a:tr h="329184">
                <a:tc>
                  <a:txBody>
                    <a:bodyPr/>
                    <a:lstStyle/>
                    <a:p>
                      <a:pPr indent="0" marL="0">
                        <a:buNone/>
                      </a:pPr>
                      <a:r>
                        <a:rPr lang="en-US" sz="1300" dirty="0">
                          <a:solidFill>
                            <a:schemeClr val="tx1"/>
                          </a:solidFill>
                        </a:rPr>
                        <a:t>Train</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00" dirty="0">
                          <a:solidFill>
                            <a:schemeClr val="tx1"/>
                          </a:solidFill>
                        </a:rPr>
                        <a:t>5,285</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00" dirty="0">
                          <a:solidFill>
                            <a:schemeClr val="tx1"/>
                          </a:solidFill>
                        </a:rPr>
                        <a:t>240</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29184">
                <a:tc>
                  <a:txBody>
                    <a:bodyPr/>
                    <a:lstStyle/>
                    <a:p>
                      <a:pPr indent="0" marL="0">
                        <a:buNone/>
                      </a:pPr>
                      <a:r>
                        <a:rPr lang="en-US" sz="1300" dirty="0">
                          <a:solidFill>
                            <a:schemeClr val="tx1"/>
                          </a:solidFill>
                        </a:rPr>
                        <a:t>Validation</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00" dirty="0">
                          <a:solidFill>
                            <a:schemeClr val="tx1"/>
                          </a:solidFill>
                        </a:rPr>
                        <a:t>943</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00" dirty="0">
                          <a:solidFill>
                            <a:schemeClr val="tx1"/>
                          </a:solidFill>
                        </a:rPr>
                        <a:t>40</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29184">
                <a:tc>
                  <a:txBody>
                    <a:bodyPr/>
                    <a:lstStyle/>
                    <a:p>
                      <a:pPr indent="0" marL="0">
                        <a:buNone/>
                      </a:pPr>
                      <a:r>
                        <a:rPr lang="en-US" sz="1300" dirty="0">
                          <a:solidFill>
                            <a:schemeClr val="tx1"/>
                          </a:solidFill>
                        </a:rPr>
                        <a:t>Test (untouched)</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00" dirty="0">
                          <a:solidFill>
                            <a:schemeClr val="tx1"/>
                          </a:solidFill>
                        </a:rPr>
                        <a:t>1,759</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00" dirty="0">
                          <a:solidFill>
                            <a:schemeClr val="tx1"/>
                          </a:solidFill>
                        </a:rPr>
                        <a:t>71</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EDA and Preprocessing Decisions</a:t>
            </a:r>
            <a:endParaRPr lang="en-US" sz="34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Every cleaning step came from a measured finding in the data</a:t>
            </a:r>
            <a:endParaRPr lang="en-US" sz="1600" dirty="0"/>
          </a:p>
        </p:txBody>
      </p:sp>
      <p:graphicFrame>
        <p:nvGraphicFramePr>
          <p:cNvPr id="4" name="Label distribution chart" descr=""/>
          <p:cNvGraphicFramePr/>
          <p:nvPr/>
        </p:nvGraphicFramePr>
        <p:xfrm>
          <a:off x="548640" y="1645920"/>
          <a:ext cx="4846320" cy="4480560"/>
        </p:xfrm>
        <a:graphic xmlns:a="http://schemas.openxmlformats.org/drawingml/2006/main">
          <a:graphicData uri="http://schemas.openxmlformats.org/drawingml/2006/chart">
            <c:chart xmlns:c="http://schemas.openxmlformats.org/drawingml/2006/chart" r:id="rId1"/>
          </a:graphicData>
        </a:graphic>
      </p:graphicFrame>
      <p:sp>
        <p:nvSpPr>
          <p:cNvPr id="5" name="Finding header"/>
          <p:cNvSpPr txBox="1"/>
          <p:nvPr/>
        </p:nvSpPr>
        <p:spPr>
          <a:xfrm>
            <a:off x="5760720" y="1645920"/>
            <a:ext cx="3017520" cy="320040"/>
          </a:xfrm>
          <a:prstGeom prst="rect">
            <a:avLst/>
          </a:prstGeom>
          <a:noFill/>
          <a:ln/>
        </p:spPr>
        <p:txBody>
          <a:bodyPr wrap="square" lIns="0" tIns="0" rIns="0" bIns="0" rtlCol="0" anchor="ctr"/>
          <a:lstStyle/>
          <a:p>
            <a:pPr indent="0" marL="0">
              <a:buNone/>
            </a:pPr>
            <a:r>
              <a:rPr lang="en-US" sz="1400" b="1" dirty="0">
                <a:solidFill>
                  <a:schemeClr val="tx2"/>
                </a:solidFill>
              </a:rPr>
              <a:t>Finding</a:t>
            </a:r>
            <a:endParaRPr lang="en-US" sz="1400" dirty="0"/>
          </a:p>
        </p:txBody>
      </p:sp>
      <p:sp>
        <p:nvSpPr>
          <p:cNvPr id="6" name="Decision header"/>
          <p:cNvSpPr txBox="1"/>
          <p:nvPr/>
        </p:nvSpPr>
        <p:spPr>
          <a:xfrm>
            <a:off x="8915400" y="1645920"/>
            <a:ext cx="2697480" cy="320040"/>
          </a:xfrm>
          <a:prstGeom prst="rect">
            <a:avLst/>
          </a:prstGeom>
          <a:noFill/>
          <a:ln/>
        </p:spPr>
        <p:txBody>
          <a:bodyPr wrap="square" lIns="0" tIns="0" rIns="0" bIns="0" rtlCol="0" anchor="ctr"/>
          <a:lstStyle/>
          <a:p>
            <a:pPr indent="0" marL="0">
              <a:buNone/>
            </a:pPr>
            <a:r>
              <a:rPr lang="en-US" sz="1400" b="1" dirty="0">
                <a:solidFill>
                  <a:schemeClr val="accent1"/>
                </a:solidFill>
              </a:rPr>
              <a:t>Decision</a:t>
            </a:r>
            <a:endParaRPr lang="en-US" sz="1400" dirty="0"/>
          </a:p>
        </p:txBody>
      </p:sp>
      <p:sp>
        <p:nvSpPr>
          <p:cNvPr id="7" name="Row 1"/>
          <p:cNvSpPr/>
          <p:nvPr/>
        </p:nvSpPr>
        <p:spPr>
          <a:xfrm>
            <a:off x="5760720" y="2029968"/>
            <a:ext cx="5852160" cy="603504"/>
          </a:xfrm>
          <a:prstGeom prst="roundRect">
            <a:avLst>
              <a:gd name="adj" fmla="val 18182"/>
            </a:avLst>
          </a:prstGeom>
          <a:solidFill>
            <a:schemeClr val="bg2"/>
          </a:solidFill>
          <a:ln w="12700">
            <a:solidFill>
              <a:schemeClr val="bg2"/>
            </a:solidFill>
            <a:prstDash val="solid"/>
          </a:ln>
        </p:spPr>
      </p:sp>
      <p:sp>
        <p:nvSpPr>
          <p:cNvPr id="8" name="Finding 1"/>
          <p:cNvSpPr txBox="1"/>
          <p:nvPr/>
        </p:nvSpPr>
        <p:spPr>
          <a:xfrm>
            <a:off x="5897880" y="2029968"/>
            <a:ext cx="2926080" cy="603504"/>
          </a:xfrm>
          <a:prstGeom prst="rect">
            <a:avLst/>
          </a:prstGeom>
          <a:noFill/>
          <a:ln/>
        </p:spPr>
        <p:txBody>
          <a:bodyPr wrap="square" lIns="0" tIns="0" rIns="0" bIns="0" rtlCol="0" anchor="ctr"/>
          <a:lstStyle/>
          <a:p>
            <a:pPr indent="0" marL="0">
              <a:buNone/>
            </a:pPr>
            <a:r>
              <a:rPr lang="en-US" sz="1200" dirty="0">
                <a:solidFill>
                  <a:schemeClr val="tx1"/>
                </a:solidFill>
              </a:rPr>
              <a:t>The label was written inside the training text ("The result is, No Fit")</a:t>
            </a:r>
            <a:endParaRPr lang="en-US" sz="1200" dirty="0"/>
          </a:p>
        </p:txBody>
      </p:sp>
      <p:sp>
        <p:nvSpPr>
          <p:cNvPr id="9" name="Decision 1"/>
          <p:cNvSpPr txBox="1"/>
          <p:nvPr/>
        </p:nvSpPr>
        <p:spPr>
          <a:xfrm>
            <a:off x="8915400" y="2029968"/>
            <a:ext cx="2606040" cy="603504"/>
          </a:xfrm>
          <a:prstGeom prst="rect">
            <a:avLst/>
          </a:prstGeom>
          <a:noFill/>
          <a:ln/>
        </p:spPr>
        <p:txBody>
          <a:bodyPr wrap="square" lIns="0" tIns="0" rIns="0" bIns="0" rtlCol="0" anchor="ctr"/>
          <a:lstStyle/>
          <a:p>
            <a:pPr indent="0" marL="0">
              <a:buNone/>
            </a:pPr>
            <a:r>
              <a:rPr lang="en-US" sz="1200" b="1" dirty="0">
                <a:solidFill>
                  <a:schemeClr val="accent1"/>
                </a:solidFill>
              </a:rPr>
              <a:t>Removed it, so the model cannot read the answer</a:t>
            </a:r>
            <a:endParaRPr lang="en-US" sz="1200" dirty="0"/>
          </a:p>
        </p:txBody>
      </p:sp>
      <p:sp>
        <p:nvSpPr>
          <p:cNvPr id="10" name="Row 2"/>
          <p:cNvSpPr/>
          <p:nvPr/>
        </p:nvSpPr>
        <p:spPr>
          <a:xfrm>
            <a:off x="5760720" y="2715768"/>
            <a:ext cx="5852160" cy="603504"/>
          </a:xfrm>
          <a:prstGeom prst="roundRect">
            <a:avLst>
              <a:gd name="adj" fmla="val 18182"/>
            </a:avLst>
          </a:prstGeom>
          <a:solidFill>
            <a:schemeClr val="bg1"/>
          </a:solidFill>
          <a:ln w="12700">
            <a:solidFill>
              <a:schemeClr val="bg1"/>
            </a:solidFill>
            <a:prstDash val="solid"/>
          </a:ln>
        </p:spPr>
      </p:sp>
      <p:sp>
        <p:nvSpPr>
          <p:cNvPr id="11" name="Finding 2"/>
          <p:cNvSpPr txBox="1"/>
          <p:nvPr/>
        </p:nvSpPr>
        <p:spPr>
          <a:xfrm>
            <a:off x="5897880" y="2715768"/>
            <a:ext cx="2926080" cy="603504"/>
          </a:xfrm>
          <a:prstGeom prst="rect">
            <a:avLst/>
          </a:prstGeom>
          <a:noFill/>
          <a:ln/>
        </p:spPr>
        <p:txBody>
          <a:bodyPr wrap="square" lIns="0" tIns="0" rIns="0" bIns="0" rtlCol="0" anchor="ctr"/>
          <a:lstStyle/>
          <a:p>
            <a:pPr indent="0" marL="0">
              <a:buNone/>
            </a:pPr>
            <a:r>
              <a:rPr lang="en-US" sz="1200" dirty="0">
                <a:solidFill>
                  <a:schemeClr val="tx1"/>
                </a:solidFill>
              </a:rPr>
              <a:t>12 rows had conflicting labels, 1 row was a duplicate</a:t>
            </a:r>
            <a:endParaRPr lang="en-US" sz="1200" dirty="0"/>
          </a:p>
        </p:txBody>
      </p:sp>
      <p:sp>
        <p:nvSpPr>
          <p:cNvPr id="12" name="Decision 2"/>
          <p:cNvSpPr txBox="1"/>
          <p:nvPr/>
        </p:nvSpPr>
        <p:spPr>
          <a:xfrm>
            <a:off x="8915400" y="2715768"/>
            <a:ext cx="2606040" cy="603504"/>
          </a:xfrm>
          <a:prstGeom prst="rect">
            <a:avLst/>
          </a:prstGeom>
          <a:noFill/>
          <a:ln/>
        </p:spPr>
        <p:txBody>
          <a:bodyPr wrap="square" lIns="0" tIns="0" rIns="0" bIns="0" rtlCol="0" anchor="ctr"/>
          <a:lstStyle/>
          <a:p>
            <a:pPr indent="0" marL="0">
              <a:buNone/>
            </a:pPr>
            <a:r>
              <a:rPr lang="en-US" sz="1200" b="1" dirty="0">
                <a:solidFill>
                  <a:schemeClr val="accent1"/>
                </a:solidFill>
              </a:rPr>
              <a:t>Removed them</a:t>
            </a:r>
            <a:endParaRPr lang="en-US" sz="1200" dirty="0"/>
          </a:p>
        </p:txBody>
      </p:sp>
      <p:sp>
        <p:nvSpPr>
          <p:cNvPr id="13" name="Row 3"/>
          <p:cNvSpPr/>
          <p:nvPr/>
        </p:nvSpPr>
        <p:spPr>
          <a:xfrm>
            <a:off x="5760720" y="3401568"/>
            <a:ext cx="5852160" cy="603504"/>
          </a:xfrm>
          <a:prstGeom prst="roundRect">
            <a:avLst>
              <a:gd name="adj" fmla="val 18182"/>
            </a:avLst>
          </a:prstGeom>
          <a:solidFill>
            <a:schemeClr val="bg2"/>
          </a:solidFill>
          <a:ln w="12700">
            <a:solidFill>
              <a:schemeClr val="bg2"/>
            </a:solidFill>
            <a:prstDash val="solid"/>
          </a:ln>
        </p:spPr>
      </p:sp>
      <p:sp>
        <p:nvSpPr>
          <p:cNvPr id="14" name="Finding 3"/>
          <p:cNvSpPr txBox="1"/>
          <p:nvPr/>
        </p:nvSpPr>
        <p:spPr>
          <a:xfrm>
            <a:off x="5897880" y="3401568"/>
            <a:ext cx="2926080" cy="603504"/>
          </a:xfrm>
          <a:prstGeom prst="rect">
            <a:avLst/>
          </a:prstGeom>
          <a:noFill/>
          <a:ln/>
        </p:spPr>
        <p:txBody>
          <a:bodyPr wrap="square" lIns="0" tIns="0" rIns="0" bIns="0" rtlCol="0" anchor="ctr"/>
          <a:lstStyle/>
          <a:p>
            <a:pPr indent="0" marL="0">
              <a:buNone/>
            </a:pPr>
            <a:r>
              <a:rPr lang="en-US" sz="1200" dirty="0">
                <a:solidFill>
                  <a:schemeClr val="tx1"/>
                </a:solidFill>
              </a:rPr>
              <a:t>Emails, phone numbers, links and words stuck together</a:t>
            </a:r>
            <a:endParaRPr lang="en-US" sz="1200" dirty="0"/>
          </a:p>
        </p:txBody>
      </p:sp>
      <p:sp>
        <p:nvSpPr>
          <p:cNvPr id="15" name="Decision 3"/>
          <p:cNvSpPr txBox="1"/>
          <p:nvPr/>
        </p:nvSpPr>
        <p:spPr>
          <a:xfrm>
            <a:off x="8915400" y="3401568"/>
            <a:ext cx="2606040" cy="603504"/>
          </a:xfrm>
          <a:prstGeom prst="rect">
            <a:avLst/>
          </a:prstGeom>
          <a:noFill/>
          <a:ln/>
        </p:spPr>
        <p:txBody>
          <a:bodyPr wrap="square" lIns="0" tIns="0" rIns="0" bIns="0" rtlCol="0" anchor="ctr"/>
          <a:lstStyle/>
          <a:p>
            <a:pPr indent="0" marL="0">
              <a:buNone/>
            </a:pPr>
            <a:r>
              <a:rPr lang="en-US" sz="1200" b="1" dirty="0">
                <a:solidFill>
                  <a:schemeClr val="accent1"/>
                </a:solidFill>
              </a:rPr>
              <a:t>Cleaned the text; kept real terms like JavaScript</a:t>
            </a:r>
            <a:endParaRPr lang="en-US" sz="1200" dirty="0"/>
          </a:p>
        </p:txBody>
      </p:sp>
      <p:sp>
        <p:nvSpPr>
          <p:cNvPr id="16" name="Row 4"/>
          <p:cNvSpPr/>
          <p:nvPr/>
        </p:nvSpPr>
        <p:spPr>
          <a:xfrm>
            <a:off x="5760720" y="4087368"/>
            <a:ext cx="5852160" cy="603504"/>
          </a:xfrm>
          <a:prstGeom prst="roundRect">
            <a:avLst>
              <a:gd name="adj" fmla="val 18182"/>
            </a:avLst>
          </a:prstGeom>
          <a:solidFill>
            <a:schemeClr val="bg1"/>
          </a:solidFill>
          <a:ln w="12700">
            <a:solidFill>
              <a:schemeClr val="bg1"/>
            </a:solidFill>
            <a:prstDash val="solid"/>
          </a:ln>
        </p:spPr>
      </p:sp>
      <p:sp>
        <p:nvSpPr>
          <p:cNvPr id="17" name="Finding 4"/>
          <p:cNvSpPr txBox="1"/>
          <p:nvPr/>
        </p:nvSpPr>
        <p:spPr>
          <a:xfrm>
            <a:off x="5897880" y="4087368"/>
            <a:ext cx="2926080" cy="603504"/>
          </a:xfrm>
          <a:prstGeom prst="rect">
            <a:avLst/>
          </a:prstGeom>
          <a:noFill/>
          <a:ln/>
        </p:spPr>
        <p:txBody>
          <a:bodyPr wrap="square" lIns="0" tIns="0" rIns="0" bIns="0" rtlCol="0" anchor="ctr"/>
          <a:lstStyle/>
          <a:p>
            <a:pPr indent="0" marL="0">
              <a:buNone/>
            </a:pPr>
            <a:r>
              <a:rPr lang="en-US" sz="1200" dirty="0">
                <a:solidFill>
                  <a:schemeClr val="tx1"/>
                </a:solidFill>
              </a:rPr>
              <a:t>Test jobs never appear in training</a:t>
            </a:r>
            <a:endParaRPr lang="en-US" sz="1200" dirty="0"/>
          </a:p>
        </p:txBody>
      </p:sp>
      <p:sp>
        <p:nvSpPr>
          <p:cNvPr id="18" name="Decision 4"/>
          <p:cNvSpPr txBox="1"/>
          <p:nvPr/>
        </p:nvSpPr>
        <p:spPr>
          <a:xfrm>
            <a:off x="8915400" y="4087368"/>
            <a:ext cx="2606040" cy="603504"/>
          </a:xfrm>
          <a:prstGeom prst="rect">
            <a:avLst/>
          </a:prstGeom>
          <a:noFill/>
          <a:ln/>
        </p:spPr>
        <p:txBody>
          <a:bodyPr wrap="square" lIns="0" tIns="0" rIns="0" bIns="0" rtlCol="0" anchor="ctr"/>
          <a:lstStyle/>
          <a:p>
            <a:pPr indent="0" marL="0">
              <a:buNone/>
            </a:pPr>
            <a:r>
              <a:rPr lang="en-US" sz="1200" b="1" dirty="0">
                <a:solidFill>
                  <a:schemeClr val="accent1"/>
                </a:solidFill>
              </a:rPr>
              <a:t>Validation set holds out whole jobs</a:t>
            </a:r>
            <a:endParaRPr lang="en-US" sz="1200" dirty="0"/>
          </a:p>
        </p:txBody>
      </p:sp>
      <p:sp>
        <p:nvSpPr>
          <p:cNvPr id="19" name="Row 5"/>
          <p:cNvSpPr/>
          <p:nvPr/>
        </p:nvSpPr>
        <p:spPr>
          <a:xfrm>
            <a:off x="5760720" y="4773168"/>
            <a:ext cx="5852160" cy="603504"/>
          </a:xfrm>
          <a:prstGeom prst="roundRect">
            <a:avLst>
              <a:gd name="adj" fmla="val 18182"/>
            </a:avLst>
          </a:prstGeom>
          <a:solidFill>
            <a:schemeClr val="bg2"/>
          </a:solidFill>
          <a:ln w="12700">
            <a:solidFill>
              <a:schemeClr val="bg2"/>
            </a:solidFill>
            <a:prstDash val="solid"/>
          </a:ln>
        </p:spPr>
      </p:sp>
      <p:sp>
        <p:nvSpPr>
          <p:cNvPr id="20" name="Finding 5"/>
          <p:cNvSpPr txBox="1"/>
          <p:nvPr/>
        </p:nvSpPr>
        <p:spPr>
          <a:xfrm>
            <a:off x="5897880" y="4773168"/>
            <a:ext cx="2926080" cy="603504"/>
          </a:xfrm>
          <a:prstGeom prst="rect">
            <a:avLst/>
          </a:prstGeom>
          <a:noFill/>
          <a:ln/>
        </p:spPr>
        <p:txBody>
          <a:bodyPr wrap="square" lIns="0" tIns="0" rIns="0" bIns="0" rtlCol="0" anchor="ctr"/>
          <a:lstStyle/>
          <a:p>
            <a:pPr indent="0" marL="0">
              <a:buNone/>
            </a:pPr>
            <a:r>
              <a:rPr lang="en-US" sz="1200" dirty="0">
                <a:solidFill>
                  <a:schemeClr val="tx1"/>
                </a:solidFill>
              </a:rPr>
              <a:t>98.4% of pairs are longer than BERT's 512-token limit</a:t>
            </a:r>
            <a:endParaRPr lang="en-US" sz="1200" dirty="0"/>
          </a:p>
        </p:txBody>
      </p:sp>
      <p:sp>
        <p:nvSpPr>
          <p:cNvPr id="21" name="Decision 5"/>
          <p:cNvSpPr txBox="1"/>
          <p:nvPr/>
        </p:nvSpPr>
        <p:spPr>
          <a:xfrm>
            <a:off x="8915400" y="4773168"/>
            <a:ext cx="2606040" cy="603504"/>
          </a:xfrm>
          <a:prstGeom prst="rect">
            <a:avLst/>
          </a:prstGeom>
          <a:noFill/>
          <a:ln/>
        </p:spPr>
        <p:txBody>
          <a:bodyPr wrap="square" lIns="0" tIns="0" rIns="0" bIns="0" rtlCol="0" anchor="ctr"/>
          <a:lstStyle/>
          <a:p>
            <a:pPr indent="0" marL="0">
              <a:buNone/>
            </a:pPr>
            <a:r>
              <a:rPr lang="en-US" sz="1200" b="1" dirty="0">
                <a:solidFill>
                  <a:schemeClr val="accent1"/>
                </a:solidFill>
              </a:rPr>
              <a:t>Split long text into chunks for embeddings</a:t>
            </a:r>
            <a:endParaRPr lang="en-US" sz="1200" dirty="0"/>
          </a:p>
        </p:txBody>
      </p:sp>
      <p:sp>
        <p:nvSpPr>
          <p:cNvPr id="22" name="Row 6"/>
          <p:cNvSpPr/>
          <p:nvPr/>
        </p:nvSpPr>
        <p:spPr>
          <a:xfrm>
            <a:off x="5760720" y="5458968"/>
            <a:ext cx="5852160" cy="603504"/>
          </a:xfrm>
          <a:prstGeom prst="roundRect">
            <a:avLst>
              <a:gd name="adj" fmla="val 18182"/>
            </a:avLst>
          </a:prstGeom>
          <a:solidFill>
            <a:schemeClr val="bg1"/>
          </a:solidFill>
          <a:ln w="12700">
            <a:solidFill>
              <a:schemeClr val="bg1"/>
            </a:solidFill>
            <a:prstDash val="solid"/>
          </a:ln>
        </p:spPr>
      </p:sp>
      <p:sp>
        <p:nvSpPr>
          <p:cNvPr id="23" name="Finding 6"/>
          <p:cNvSpPr txBox="1"/>
          <p:nvPr/>
        </p:nvSpPr>
        <p:spPr>
          <a:xfrm>
            <a:off x="5897880" y="5458968"/>
            <a:ext cx="2926080" cy="603504"/>
          </a:xfrm>
          <a:prstGeom prst="rect">
            <a:avLst/>
          </a:prstGeom>
          <a:noFill/>
          <a:ln/>
        </p:spPr>
        <p:txBody>
          <a:bodyPr wrap="square" lIns="0" tIns="0" rIns="0" bIns="0" rtlCol="0" anchor="ctr"/>
          <a:lstStyle/>
          <a:p>
            <a:pPr indent="0" marL="0">
              <a:buNone/>
            </a:pPr>
            <a:r>
              <a:rPr lang="en-US" sz="1200" dirty="0">
                <a:solidFill>
                  <a:schemeClr val="tx1"/>
                </a:solidFill>
              </a:rPr>
              <a:t>About 50% of rows are No Fit</a:t>
            </a:r>
            <a:endParaRPr lang="en-US" sz="1200" dirty="0"/>
          </a:p>
        </p:txBody>
      </p:sp>
      <p:sp>
        <p:nvSpPr>
          <p:cNvPr id="24" name="Decision 6"/>
          <p:cNvSpPr txBox="1"/>
          <p:nvPr/>
        </p:nvSpPr>
        <p:spPr>
          <a:xfrm>
            <a:off x="8915400" y="5458968"/>
            <a:ext cx="2606040" cy="603504"/>
          </a:xfrm>
          <a:prstGeom prst="rect">
            <a:avLst/>
          </a:prstGeom>
          <a:noFill/>
          <a:ln/>
        </p:spPr>
        <p:txBody>
          <a:bodyPr wrap="square" lIns="0" tIns="0" rIns="0" bIns="0" rtlCol="0" anchor="ctr"/>
          <a:lstStyle/>
          <a:p>
            <a:pPr indent="0" marL="0">
              <a:buNone/>
            </a:pPr>
            <a:r>
              <a:rPr lang="en-US" sz="1200" b="1" dirty="0">
                <a:solidFill>
                  <a:schemeClr val="accent1"/>
                </a:solidFill>
              </a:rPr>
              <a:t>Use macro F1 and class weights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Baseline and Advanced Model Architecture</a:t>
            </a:r>
            <a:endParaRPr lang="en-US" sz="34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Start simple, then combine skills, experience and meaning in one XGBoost model</a:t>
            </a:r>
            <a:endParaRPr lang="en-US" sz="1600" dirty="0"/>
          </a:p>
        </p:txBody>
      </p:sp>
      <p:sp>
        <p:nvSpPr>
          <p:cNvPr id="4" name="Baselines card"/>
          <p:cNvSpPr/>
          <p:nvPr/>
        </p:nvSpPr>
        <p:spPr>
          <a:xfrm>
            <a:off x="548640" y="1645920"/>
            <a:ext cx="3931920" cy="4526280"/>
          </a:xfrm>
          <a:prstGeom prst="roundRect">
            <a:avLst>
              <a:gd name="adj" fmla="val 2791"/>
            </a:avLst>
          </a:prstGeom>
          <a:solidFill>
            <a:schemeClr val="bg2"/>
          </a:solidFill>
          <a:ln w="12700">
            <a:solidFill>
              <a:schemeClr val="bg2"/>
            </a:solidFill>
            <a:prstDash val="solid"/>
          </a:ln>
        </p:spPr>
      </p:sp>
      <p:sp>
        <p:nvSpPr>
          <p:cNvPr id="5" name="Baselines heading"/>
          <p:cNvSpPr txBox="1"/>
          <p:nvPr/>
        </p:nvSpPr>
        <p:spPr>
          <a:xfrm>
            <a:off x="777240" y="1783080"/>
            <a:ext cx="3566160" cy="365760"/>
          </a:xfrm>
          <a:prstGeom prst="rect">
            <a:avLst/>
          </a:prstGeom>
          <a:noFill/>
          <a:ln/>
        </p:spPr>
        <p:txBody>
          <a:bodyPr wrap="square" lIns="0" tIns="0" rIns="0" bIns="0" rtlCol="0" anchor="ctr"/>
          <a:lstStyle/>
          <a:p>
            <a:pPr indent="0" marL="0">
              <a:buNone/>
            </a:pPr>
            <a:r>
              <a:rPr lang="en-US" sz="1500" b="1" dirty="0">
                <a:solidFill>
                  <a:schemeClr val="tx2"/>
                </a:solidFill>
              </a:rPr>
              <a:t>Baselines (validation macro F1)</a:t>
            </a:r>
            <a:endParaRPr lang="en-US" sz="1500" dirty="0"/>
          </a:p>
        </p:txBody>
      </p:sp>
      <p:sp>
        <p:nvSpPr>
          <p:cNvPr id="6" name="Baseline 1"/>
          <p:cNvSpPr txBox="1"/>
          <p:nvPr/>
        </p:nvSpPr>
        <p:spPr>
          <a:xfrm>
            <a:off x="777240" y="2286000"/>
            <a:ext cx="2651760" cy="457200"/>
          </a:xfrm>
          <a:prstGeom prst="rect">
            <a:avLst/>
          </a:prstGeom>
          <a:noFill/>
          <a:ln/>
        </p:spPr>
        <p:txBody>
          <a:bodyPr wrap="square" lIns="0" tIns="0" rIns="0" bIns="0" rtlCol="0" anchor="ctr"/>
          <a:lstStyle/>
          <a:p>
            <a:pPr indent="0" marL="0">
              <a:buNone/>
            </a:pPr>
            <a:r>
              <a:rPr lang="en-US" sz="1300" dirty="0">
                <a:solidFill>
                  <a:schemeClr val="tx1"/>
                </a:solidFill>
              </a:rPr>
              <a:t>Majority class (always No Fit)</a:t>
            </a:r>
            <a:endParaRPr lang="en-US" sz="1300" dirty="0"/>
          </a:p>
        </p:txBody>
      </p:sp>
      <p:sp>
        <p:nvSpPr>
          <p:cNvPr id="7" name="Baseline score 1"/>
          <p:cNvSpPr txBox="1"/>
          <p:nvPr/>
        </p:nvSpPr>
        <p:spPr>
          <a:xfrm>
            <a:off x="3429000" y="2286000"/>
            <a:ext cx="868680" cy="457200"/>
          </a:xfrm>
          <a:prstGeom prst="rect">
            <a:avLst/>
          </a:prstGeom>
          <a:noFill/>
          <a:ln/>
        </p:spPr>
        <p:txBody>
          <a:bodyPr wrap="square" lIns="0" tIns="0" rIns="0" bIns="0" rtlCol="0" anchor="ctr"/>
          <a:lstStyle/>
          <a:p>
            <a:pPr algn="r" indent="0" marL="0">
              <a:buNone/>
            </a:pPr>
            <a:r>
              <a:rPr lang="en-US" sz="1400" b="1" dirty="0">
                <a:solidFill>
                  <a:schemeClr val="accent1"/>
                </a:solidFill>
              </a:rPr>
              <a:t>0.218</a:t>
            </a:r>
            <a:endParaRPr lang="en-US" sz="1400" dirty="0"/>
          </a:p>
        </p:txBody>
      </p:sp>
      <p:sp>
        <p:nvSpPr>
          <p:cNvPr id="8" name="Baseline 2"/>
          <p:cNvSpPr txBox="1"/>
          <p:nvPr/>
        </p:nvSpPr>
        <p:spPr>
          <a:xfrm>
            <a:off x="777240" y="2852928"/>
            <a:ext cx="2651760" cy="457200"/>
          </a:xfrm>
          <a:prstGeom prst="rect">
            <a:avLst/>
          </a:prstGeom>
          <a:noFill/>
          <a:ln/>
        </p:spPr>
        <p:txBody>
          <a:bodyPr wrap="square" lIns="0" tIns="0" rIns="0" bIns="0" rtlCol="0" anchor="ctr"/>
          <a:lstStyle/>
          <a:p>
            <a:pPr indent="0" marL="0">
              <a:buNone/>
            </a:pPr>
            <a:r>
              <a:rPr lang="en-US" sz="1300" dirty="0">
                <a:solidFill>
                  <a:schemeClr val="tx1"/>
                </a:solidFill>
              </a:rPr>
              <a:t>Keyword: TF-IDF cosine</a:t>
            </a:r>
            <a:endParaRPr lang="en-US" sz="1300" dirty="0"/>
          </a:p>
        </p:txBody>
      </p:sp>
      <p:sp>
        <p:nvSpPr>
          <p:cNvPr id="9" name="Baseline score 2"/>
          <p:cNvSpPr txBox="1"/>
          <p:nvPr/>
        </p:nvSpPr>
        <p:spPr>
          <a:xfrm>
            <a:off x="3429000" y="2852928"/>
            <a:ext cx="868680" cy="457200"/>
          </a:xfrm>
          <a:prstGeom prst="rect">
            <a:avLst/>
          </a:prstGeom>
          <a:noFill/>
          <a:ln/>
        </p:spPr>
        <p:txBody>
          <a:bodyPr wrap="square" lIns="0" tIns="0" rIns="0" bIns="0" rtlCol="0" anchor="ctr"/>
          <a:lstStyle/>
          <a:p>
            <a:pPr algn="r" indent="0" marL="0">
              <a:buNone/>
            </a:pPr>
            <a:r>
              <a:rPr lang="en-US" sz="1400" b="1" dirty="0">
                <a:solidFill>
                  <a:schemeClr val="accent1"/>
                </a:solidFill>
              </a:rPr>
              <a:t>0.408</a:t>
            </a:r>
            <a:endParaRPr lang="en-US" sz="1400" dirty="0"/>
          </a:p>
        </p:txBody>
      </p:sp>
      <p:sp>
        <p:nvSpPr>
          <p:cNvPr id="10" name="Baseline 3"/>
          <p:cNvSpPr txBox="1"/>
          <p:nvPr/>
        </p:nvSpPr>
        <p:spPr>
          <a:xfrm>
            <a:off x="777240" y="3419856"/>
            <a:ext cx="2651760" cy="457200"/>
          </a:xfrm>
          <a:prstGeom prst="rect">
            <a:avLst/>
          </a:prstGeom>
          <a:noFill/>
          <a:ln/>
        </p:spPr>
        <p:txBody>
          <a:bodyPr wrap="square" lIns="0" tIns="0" rIns="0" bIns="0" rtlCol="0" anchor="ctr"/>
          <a:lstStyle/>
          <a:p>
            <a:pPr indent="0" marL="0">
              <a:buNone/>
            </a:pPr>
            <a:r>
              <a:rPr lang="en-US" sz="1300" dirty="0">
                <a:solidFill>
                  <a:schemeClr val="tx1"/>
                </a:solidFill>
              </a:rPr>
              <a:t>Resume only (no job text)</a:t>
            </a:r>
            <a:endParaRPr lang="en-US" sz="1300" dirty="0"/>
          </a:p>
        </p:txBody>
      </p:sp>
      <p:sp>
        <p:nvSpPr>
          <p:cNvPr id="11" name="Baseline score 3"/>
          <p:cNvSpPr txBox="1"/>
          <p:nvPr/>
        </p:nvSpPr>
        <p:spPr>
          <a:xfrm>
            <a:off x="3429000" y="3419856"/>
            <a:ext cx="868680" cy="457200"/>
          </a:xfrm>
          <a:prstGeom prst="rect">
            <a:avLst/>
          </a:prstGeom>
          <a:noFill/>
          <a:ln/>
        </p:spPr>
        <p:txBody>
          <a:bodyPr wrap="square" lIns="0" tIns="0" rIns="0" bIns="0" rtlCol="0" anchor="ctr"/>
          <a:lstStyle/>
          <a:p>
            <a:pPr algn="r" indent="0" marL="0">
              <a:buNone/>
            </a:pPr>
            <a:r>
              <a:rPr lang="en-US" sz="1400" b="1" dirty="0">
                <a:solidFill>
                  <a:schemeClr val="accent1"/>
                </a:solidFill>
              </a:rPr>
              <a:t>0.426</a:t>
            </a:r>
            <a:endParaRPr lang="en-US" sz="1400" dirty="0"/>
          </a:p>
        </p:txBody>
      </p:sp>
      <p:sp>
        <p:nvSpPr>
          <p:cNvPr id="12" name="Baseline 4"/>
          <p:cNvSpPr txBox="1"/>
          <p:nvPr/>
        </p:nvSpPr>
        <p:spPr>
          <a:xfrm>
            <a:off x="777240" y="3986784"/>
            <a:ext cx="2651760" cy="457200"/>
          </a:xfrm>
          <a:prstGeom prst="rect">
            <a:avLst/>
          </a:prstGeom>
          <a:noFill/>
          <a:ln/>
        </p:spPr>
        <p:txBody>
          <a:bodyPr wrap="square" lIns="0" tIns="0" rIns="0" bIns="0" rtlCol="0" anchor="ctr"/>
          <a:lstStyle/>
          <a:p>
            <a:pPr indent="0" marL="0">
              <a:buNone/>
            </a:pPr>
            <a:r>
              <a:rPr lang="en-US" sz="1300" dirty="0">
                <a:solidFill>
                  <a:schemeClr val="tx1"/>
                </a:solidFill>
              </a:rPr>
              <a:t>Logistic Regression</a:t>
            </a:r>
            <a:endParaRPr lang="en-US" sz="1300" dirty="0"/>
          </a:p>
        </p:txBody>
      </p:sp>
      <p:sp>
        <p:nvSpPr>
          <p:cNvPr id="13" name="Baseline score 4"/>
          <p:cNvSpPr txBox="1"/>
          <p:nvPr/>
        </p:nvSpPr>
        <p:spPr>
          <a:xfrm>
            <a:off x="3429000" y="3986784"/>
            <a:ext cx="868680" cy="457200"/>
          </a:xfrm>
          <a:prstGeom prst="rect">
            <a:avLst/>
          </a:prstGeom>
          <a:noFill/>
          <a:ln/>
        </p:spPr>
        <p:txBody>
          <a:bodyPr wrap="square" lIns="0" tIns="0" rIns="0" bIns="0" rtlCol="0" anchor="ctr"/>
          <a:lstStyle/>
          <a:p>
            <a:pPr algn="r" indent="0" marL="0">
              <a:buNone/>
            </a:pPr>
            <a:r>
              <a:rPr lang="en-US" sz="1400" b="1" dirty="0">
                <a:solidFill>
                  <a:schemeClr val="accent1"/>
                </a:solidFill>
              </a:rPr>
              <a:t>0.463</a:t>
            </a:r>
            <a:endParaRPr lang="en-US" sz="1400" dirty="0"/>
          </a:p>
        </p:txBody>
      </p:sp>
      <p:sp>
        <p:nvSpPr>
          <p:cNvPr id="14" name="Baseline 5"/>
          <p:cNvSpPr txBox="1"/>
          <p:nvPr/>
        </p:nvSpPr>
        <p:spPr>
          <a:xfrm>
            <a:off x="777240" y="4553712"/>
            <a:ext cx="2651760" cy="457200"/>
          </a:xfrm>
          <a:prstGeom prst="rect">
            <a:avLst/>
          </a:prstGeom>
          <a:noFill/>
          <a:ln/>
        </p:spPr>
        <p:txBody>
          <a:bodyPr wrap="square" lIns="0" tIns="0" rIns="0" bIns="0" rtlCol="0" anchor="ctr"/>
          <a:lstStyle/>
          <a:p>
            <a:pPr indent="0" marL="0">
              <a:buNone/>
            </a:pPr>
            <a:r>
              <a:rPr lang="en-US" sz="1300" dirty="0">
                <a:solidFill>
                  <a:schemeClr val="tx1"/>
                </a:solidFill>
              </a:rPr>
              <a:t>Random Forest</a:t>
            </a:r>
            <a:endParaRPr lang="en-US" sz="1300" dirty="0"/>
          </a:p>
        </p:txBody>
      </p:sp>
      <p:sp>
        <p:nvSpPr>
          <p:cNvPr id="15" name="Baseline score 5"/>
          <p:cNvSpPr txBox="1"/>
          <p:nvPr/>
        </p:nvSpPr>
        <p:spPr>
          <a:xfrm>
            <a:off x="3429000" y="4553712"/>
            <a:ext cx="868680" cy="457200"/>
          </a:xfrm>
          <a:prstGeom prst="rect">
            <a:avLst/>
          </a:prstGeom>
          <a:noFill/>
          <a:ln/>
        </p:spPr>
        <p:txBody>
          <a:bodyPr wrap="square" lIns="0" tIns="0" rIns="0" bIns="0" rtlCol="0" anchor="ctr"/>
          <a:lstStyle/>
          <a:p>
            <a:pPr algn="r" indent="0" marL="0">
              <a:buNone/>
            </a:pPr>
            <a:r>
              <a:rPr lang="en-US" sz="1400" b="1" dirty="0">
                <a:solidFill>
                  <a:schemeClr val="accent1"/>
                </a:solidFill>
              </a:rPr>
              <a:t>0.498</a:t>
            </a:r>
            <a:endParaRPr lang="en-US" sz="1400" dirty="0"/>
          </a:p>
        </p:txBody>
      </p:sp>
      <p:sp>
        <p:nvSpPr>
          <p:cNvPr id="16" name="Also compared"/>
          <p:cNvSpPr txBox="1"/>
          <p:nvPr/>
        </p:nvSpPr>
        <p:spPr>
          <a:xfrm>
            <a:off x="777240" y="5257800"/>
            <a:ext cx="3566160" cy="731520"/>
          </a:xfrm>
          <a:prstGeom prst="rect">
            <a:avLst/>
          </a:prstGeom>
          <a:noFill/>
          <a:ln/>
        </p:spPr>
        <p:txBody>
          <a:bodyPr wrap="square" lIns="0" tIns="0" rIns="0" bIns="0" rtlCol="0" anchor="t"/>
          <a:lstStyle/>
          <a:p>
            <a:pPr indent="0" marL="0">
              <a:buNone/>
            </a:pPr>
            <a:r>
              <a:rPr lang="en-US" sz="1200" i="1" dirty="0">
                <a:solidFill>
                  <a:schemeClr val="accent3"/>
                </a:solidFill>
              </a:rPr>
              <a:t>Also compared: Sentence-BERT model 0.527, DistilBERT 0.373</a:t>
            </a:r>
            <a:endParaRPr lang="en-US" sz="1200" dirty="0"/>
          </a:p>
        </p:txBody>
      </p:sp>
      <p:sp>
        <p:nvSpPr>
          <p:cNvPr id="17" name="Hybrid heading"/>
          <p:cNvSpPr txBox="1"/>
          <p:nvPr/>
        </p:nvSpPr>
        <p:spPr>
          <a:xfrm>
            <a:off x="4846320" y="1645920"/>
            <a:ext cx="6766560" cy="365760"/>
          </a:xfrm>
          <a:prstGeom prst="rect">
            <a:avLst/>
          </a:prstGeom>
          <a:noFill/>
          <a:ln/>
        </p:spPr>
        <p:txBody>
          <a:bodyPr wrap="square" lIns="0" tIns="0" rIns="0" bIns="0" rtlCol="0" anchor="ctr"/>
          <a:lstStyle/>
          <a:p>
            <a:pPr indent="0" marL="0">
              <a:buNone/>
            </a:pPr>
            <a:r>
              <a:rPr lang="en-US" sz="1500" b="1" dirty="0">
                <a:solidFill>
                  <a:schemeClr val="tx2"/>
                </a:solidFill>
              </a:rPr>
              <a:t>Advanced model: XGBoost hybrid (validation macro F1 0.545)</a:t>
            </a:r>
            <a:endParaRPr lang="en-US" sz="1500" dirty="0"/>
          </a:p>
        </p:txBody>
      </p:sp>
      <p:sp>
        <p:nvSpPr>
          <p:cNvPr id="18" name="Input box"/>
          <p:cNvSpPr/>
          <p:nvPr/>
        </p:nvSpPr>
        <p:spPr>
          <a:xfrm>
            <a:off x="6400800" y="2103120"/>
            <a:ext cx="3657600" cy="502920"/>
          </a:xfrm>
          <a:prstGeom prst="roundRect">
            <a:avLst>
              <a:gd name="adj" fmla="val 18182"/>
            </a:avLst>
          </a:prstGeom>
          <a:solidFill>
            <a:srgbClr val="1F2A44"/>
          </a:solidFill>
          <a:ln w="12700">
            <a:solidFill>
              <a:srgbClr val="1F2A44"/>
            </a:solidFill>
            <a:prstDash val="solid"/>
          </a:ln>
        </p:spPr>
      </p:sp>
      <p:sp>
        <p:nvSpPr>
          <p:cNvPr id="19" name="Input label"/>
          <p:cNvSpPr txBox="1"/>
          <p:nvPr/>
        </p:nvSpPr>
        <p:spPr>
          <a:xfrm>
            <a:off x="6492240" y="2103120"/>
            <a:ext cx="3474720" cy="502920"/>
          </a:xfrm>
          <a:prstGeom prst="rect">
            <a:avLst/>
          </a:prstGeom>
          <a:noFill/>
          <a:ln/>
        </p:spPr>
        <p:txBody>
          <a:bodyPr wrap="square" lIns="0" tIns="0" rIns="0" bIns="0" rtlCol="0" anchor="ctr"/>
          <a:lstStyle/>
          <a:p>
            <a:pPr algn="ctr" indent="0" marL="0">
              <a:buNone/>
            </a:pPr>
            <a:r>
              <a:rPr lang="en-US" sz="1300" b="1" dirty="0">
                <a:solidFill>
                  <a:srgbClr val="FFFFFF"/>
                </a:solidFill>
              </a:rPr>
              <a:t>Job description + resume  →  clean text</a:t>
            </a:r>
            <a:endParaRPr lang="en-US" sz="1300" dirty="0"/>
          </a:p>
        </p:txBody>
      </p:sp>
      <p:sp>
        <p:nvSpPr>
          <p:cNvPr id="20" name="Arrow input-left"/>
          <p:cNvSpPr/>
          <p:nvPr/>
        </p:nvSpPr>
        <p:spPr>
          <a:xfrm flipH="1">
            <a:off x="6035040" y="2606040"/>
            <a:ext cx="1280160" cy="365760"/>
          </a:xfrm>
          <a:prstGeom prst="line">
            <a:avLst/>
          </a:prstGeom>
          <a:noFill/>
          <a:ln w="19050">
            <a:solidFill>
              <a:srgbClr val="64748B"/>
            </a:solidFill>
            <a:prstDash val="solid"/>
            <a:tailEnd type="triangle"/>
          </a:ln>
        </p:spPr>
      </p:sp>
      <p:sp>
        <p:nvSpPr>
          <p:cNvPr id="21" name="Arrow input-right"/>
          <p:cNvSpPr/>
          <p:nvPr/>
        </p:nvSpPr>
        <p:spPr>
          <a:xfrm>
            <a:off x="9144000" y="2606040"/>
            <a:ext cx="914400" cy="365760"/>
          </a:xfrm>
          <a:prstGeom prst="line">
            <a:avLst/>
          </a:prstGeom>
          <a:noFill/>
          <a:ln w="19050">
            <a:solidFill>
              <a:srgbClr val="64748B"/>
            </a:solidFill>
            <a:prstDash val="solid"/>
            <a:tailEnd type="triangle"/>
          </a:ln>
        </p:spPr>
      </p:sp>
      <p:sp>
        <p:nvSpPr>
          <p:cNvPr id="22" name="Features box"/>
          <p:cNvSpPr/>
          <p:nvPr/>
        </p:nvSpPr>
        <p:spPr>
          <a:xfrm>
            <a:off x="4846320" y="2971800"/>
            <a:ext cx="3108960" cy="1417320"/>
          </a:xfrm>
          <a:prstGeom prst="roundRect">
            <a:avLst>
              <a:gd name="adj" fmla="val 6452"/>
            </a:avLst>
          </a:prstGeom>
          <a:solidFill>
            <a:srgbClr val="F1F5F9"/>
          </a:solidFill>
          <a:ln w="12700">
            <a:solidFill>
              <a:srgbClr val="F1F5F9"/>
            </a:solidFill>
            <a:prstDash val="solid"/>
          </a:ln>
        </p:spPr>
      </p:sp>
      <p:sp>
        <p:nvSpPr>
          <p:cNvPr id="23" name="Features label"/>
          <p:cNvSpPr txBox="1"/>
          <p:nvPr/>
        </p:nvSpPr>
        <p:spPr>
          <a:xfrm>
            <a:off x="4937760" y="2971800"/>
            <a:ext cx="2926080" cy="1417320"/>
          </a:xfrm>
          <a:prstGeom prst="rect">
            <a:avLst/>
          </a:prstGeom>
          <a:noFill/>
          <a:ln/>
        </p:spPr>
        <p:txBody>
          <a:bodyPr wrap="square" lIns="0" tIns="0" rIns="0" bIns="0" rtlCol="0" anchor="ctr"/>
          <a:lstStyle/>
          <a:p>
            <a:pPr algn="ctr" indent="0" marL="0">
              <a:buNone/>
            </a:pPr>
            <a:r>
              <a:rPr lang="en-US" sz="1200" dirty="0">
                <a:solidFill>
                  <a:srgbClr val="1E293B"/>
                </a:solidFill>
              </a:rPr>
              <a:t>14 features</a:t>
            </a:r>
            <a:endParaRPr lang="en-US" sz="1200" dirty="0"/>
          </a:p>
          <a:p>
            <a:pPr algn="ctr" indent="0" marL="0">
              <a:buNone/>
            </a:pPr>
            <a:r>
              <a:rPr lang="en-US" sz="1200" dirty="0">
                <a:solidFill>
                  <a:srgbClr val="1E293B"/>
                </a:solidFill>
              </a:rPr>
              <a:t>skill overlap and missing skills</a:t>
            </a:r>
            <a:endParaRPr lang="en-US" sz="1200" dirty="0"/>
          </a:p>
          <a:p>
            <a:pPr algn="ctr" indent="0" marL="0">
              <a:buNone/>
            </a:pPr>
            <a:r>
              <a:rPr lang="en-US" sz="1200" dirty="0">
                <a:solidFill>
                  <a:srgbClr val="1E293B"/>
                </a:solidFill>
              </a:rPr>
              <a:t>experience vs requirement</a:t>
            </a:r>
            <a:endParaRPr lang="en-US" sz="1200" dirty="0"/>
          </a:p>
          <a:p>
            <a:pPr algn="ctr" indent="0" marL="0">
              <a:buNone/>
            </a:pPr>
            <a:r>
              <a:rPr lang="en-US" sz="1200" dirty="0">
                <a:solidFill>
                  <a:srgbClr val="1E293B"/>
                </a:solidFill>
              </a:rPr>
              <a:t>TF-IDF and embedding similarity</a:t>
            </a:r>
            <a:endParaRPr lang="en-US" sz="1200" dirty="0"/>
          </a:p>
        </p:txBody>
      </p:sp>
      <p:sp>
        <p:nvSpPr>
          <p:cNvPr id="24" name="Embeddings box"/>
          <p:cNvSpPr/>
          <p:nvPr/>
        </p:nvSpPr>
        <p:spPr>
          <a:xfrm>
            <a:off x="8503920" y="2971800"/>
            <a:ext cx="3108960" cy="1417320"/>
          </a:xfrm>
          <a:prstGeom prst="roundRect">
            <a:avLst>
              <a:gd name="adj" fmla="val 6452"/>
            </a:avLst>
          </a:prstGeom>
          <a:solidFill>
            <a:srgbClr val="F1F5F9"/>
          </a:solidFill>
          <a:ln w="12700">
            <a:solidFill>
              <a:srgbClr val="F1F5F9"/>
            </a:solidFill>
            <a:prstDash val="solid"/>
          </a:ln>
        </p:spPr>
      </p:sp>
      <p:sp>
        <p:nvSpPr>
          <p:cNvPr id="25" name="Embeddings label"/>
          <p:cNvSpPr txBox="1"/>
          <p:nvPr/>
        </p:nvSpPr>
        <p:spPr>
          <a:xfrm>
            <a:off x="8595360" y="2971800"/>
            <a:ext cx="2926080" cy="1417320"/>
          </a:xfrm>
          <a:prstGeom prst="rect">
            <a:avLst/>
          </a:prstGeom>
          <a:noFill/>
          <a:ln/>
        </p:spPr>
        <p:txBody>
          <a:bodyPr wrap="square" lIns="0" tIns="0" rIns="0" bIns="0" rtlCol="0" anchor="ctr"/>
          <a:lstStyle/>
          <a:p>
            <a:pPr algn="ctr" indent="0" marL="0">
              <a:buNone/>
            </a:pPr>
            <a:r>
              <a:rPr lang="en-US" sz="1200" dirty="0">
                <a:solidFill>
                  <a:srgbClr val="1E293B"/>
                </a:solidFill>
              </a:rPr>
              <a:t>Sentence-BERT embeddings</a:t>
            </a:r>
            <a:endParaRPr lang="en-US" sz="1200" dirty="0"/>
          </a:p>
          <a:p>
            <a:pPr algn="ctr" indent="0" marL="0">
              <a:buNone/>
            </a:pPr>
            <a:r>
              <a:rPr lang="en-US" sz="1200" dirty="0">
                <a:solidFill>
                  <a:srgbClr val="1E293B"/>
                </a:solidFill>
              </a:rPr>
              <a:t>compare JD and resume</a:t>
            </a:r>
            <a:endParaRPr lang="en-US" sz="1200" dirty="0"/>
          </a:p>
          <a:p>
            <a:pPr algn="ctr" indent="0" marL="0">
              <a:buNone/>
            </a:pPr>
            <a:r>
              <a:rPr lang="en-US" sz="1200" dirty="0">
                <a:solidFill>
                  <a:srgbClr val="1E293B"/>
                </a:solidFill>
              </a:rPr>
              <a:t>(difference + product, 768 values)</a:t>
            </a:r>
            <a:endParaRPr lang="en-US" sz="1200" dirty="0"/>
          </a:p>
          <a:p>
            <a:pPr algn="ctr" indent="0" marL="0">
              <a:buNone/>
            </a:pPr>
            <a:r>
              <a:rPr lang="en-US" sz="1200" dirty="0">
                <a:solidFill>
                  <a:srgbClr val="1E293B"/>
                </a:solidFill>
              </a:rPr>
              <a:t>→ PCA to 32 values</a:t>
            </a:r>
            <a:endParaRPr lang="en-US" sz="1200" dirty="0"/>
          </a:p>
        </p:txBody>
      </p:sp>
      <p:sp>
        <p:nvSpPr>
          <p:cNvPr id="26" name="Arrow features-xgb"/>
          <p:cNvSpPr/>
          <p:nvPr/>
        </p:nvSpPr>
        <p:spPr>
          <a:xfrm>
            <a:off x="6400800" y="4389120"/>
            <a:ext cx="1280160" cy="365760"/>
          </a:xfrm>
          <a:prstGeom prst="line">
            <a:avLst/>
          </a:prstGeom>
          <a:noFill/>
          <a:ln w="19050">
            <a:solidFill>
              <a:srgbClr val="64748B"/>
            </a:solidFill>
            <a:prstDash val="solid"/>
            <a:tailEnd type="triangle"/>
          </a:ln>
        </p:spPr>
      </p:sp>
      <p:sp>
        <p:nvSpPr>
          <p:cNvPr id="27" name="Arrow emb-xgb"/>
          <p:cNvSpPr/>
          <p:nvPr/>
        </p:nvSpPr>
        <p:spPr>
          <a:xfrm flipH="1">
            <a:off x="8778240" y="4389120"/>
            <a:ext cx="1280160" cy="365760"/>
          </a:xfrm>
          <a:prstGeom prst="line">
            <a:avLst/>
          </a:prstGeom>
          <a:noFill/>
          <a:ln w="19050">
            <a:solidFill>
              <a:srgbClr val="64748B"/>
            </a:solidFill>
            <a:prstDash val="solid"/>
            <a:tailEnd type="triangle"/>
          </a:ln>
        </p:spPr>
      </p:sp>
      <p:sp>
        <p:nvSpPr>
          <p:cNvPr id="28" name="XGBoost box"/>
          <p:cNvSpPr/>
          <p:nvPr/>
        </p:nvSpPr>
        <p:spPr>
          <a:xfrm>
            <a:off x="6400800" y="4754880"/>
            <a:ext cx="3657600" cy="502920"/>
          </a:xfrm>
          <a:prstGeom prst="roundRect">
            <a:avLst>
              <a:gd name="adj" fmla="val 18182"/>
            </a:avLst>
          </a:prstGeom>
          <a:solidFill>
            <a:srgbClr val="0F766E"/>
          </a:solidFill>
          <a:ln w="12700">
            <a:solidFill>
              <a:srgbClr val="0F766E"/>
            </a:solidFill>
            <a:prstDash val="solid"/>
          </a:ln>
        </p:spPr>
      </p:sp>
      <p:sp>
        <p:nvSpPr>
          <p:cNvPr id="29" name="XGBoost label"/>
          <p:cNvSpPr txBox="1"/>
          <p:nvPr/>
        </p:nvSpPr>
        <p:spPr>
          <a:xfrm>
            <a:off x="6492240" y="4754880"/>
            <a:ext cx="3474720" cy="502920"/>
          </a:xfrm>
          <a:prstGeom prst="rect">
            <a:avLst/>
          </a:prstGeom>
          <a:noFill/>
          <a:ln/>
        </p:spPr>
        <p:txBody>
          <a:bodyPr wrap="square" lIns="0" tIns="0" rIns="0" bIns="0" rtlCol="0" anchor="ctr"/>
          <a:lstStyle/>
          <a:p>
            <a:pPr algn="ctr" indent="0" marL="0">
              <a:buNone/>
            </a:pPr>
            <a:r>
              <a:rPr lang="en-US" sz="1300" b="1" dirty="0">
                <a:solidFill>
                  <a:srgbClr val="FFFFFF"/>
                </a:solidFill>
              </a:rPr>
              <a:t>XGBoost (46 inputs, depth 5)</a:t>
            </a:r>
            <a:endParaRPr lang="en-US" sz="1300" dirty="0"/>
          </a:p>
        </p:txBody>
      </p:sp>
      <p:sp>
        <p:nvSpPr>
          <p:cNvPr id="30" name="Arrow xgb-out"/>
          <p:cNvSpPr/>
          <p:nvPr/>
        </p:nvSpPr>
        <p:spPr>
          <a:xfrm>
            <a:off x="8229600" y="5257800"/>
            <a:ext cx="914" cy="274320"/>
          </a:xfrm>
          <a:prstGeom prst="line">
            <a:avLst/>
          </a:prstGeom>
          <a:noFill/>
          <a:ln w="19050">
            <a:solidFill>
              <a:srgbClr val="64748B"/>
            </a:solidFill>
            <a:prstDash val="solid"/>
            <a:tailEnd type="triangle"/>
          </a:ln>
        </p:spPr>
      </p:sp>
      <p:sp>
        <p:nvSpPr>
          <p:cNvPr id="31" name="Output box"/>
          <p:cNvSpPr/>
          <p:nvPr/>
        </p:nvSpPr>
        <p:spPr>
          <a:xfrm>
            <a:off x="5760720" y="5532120"/>
            <a:ext cx="4937760" cy="548640"/>
          </a:xfrm>
          <a:prstGeom prst="roundRect">
            <a:avLst>
              <a:gd name="adj" fmla="val 16667"/>
            </a:avLst>
          </a:prstGeom>
          <a:solidFill>
            <a:srgbClr val="F59E0B"/>
          </a:solidFill>
          <a:ln w="12700">
            <a:solidFill>
              <a:srgbClr val="F59E0B"/>
            </a:solidFill>
            <a:prstDash val="solid"/>
          </a:ln>
        </p:spPr>
      </p:sp>
      <p:sp>
        <p:nvSpPr>
          <p:cNvPr id="32" name="Output label"/>
          <p:cNvSpPr txBox="1"/>
          <p:nvPr/>
        </p:nvSpPr>
        <p:spPr>
          <a:xfrm>
            <a:off x="5852160" y="5532120"/>
            <a:ext cx="4754880" cy="548640"/>
          </a:xfrm>
          <a:prstGeom prst="rect">
            <a:avLst/>
          </a:prstGeom>
          <a:noFill/>
          <a:ln/>
        </p:spPr>
        <p:txBody>
          <a:bodyPr wrap="square" lIns="0" tIns="0" rIns="0" bIns="0" rtlCol="0" anchor="ctr"/>
          <a:lstStyle/>
          <a:p>
            <a:pPr algn="ctr" indent="0" marL="0">
              <a:buNone/>
            </a:pPr>
            <a:r>
              <a:rPr lang="en-US" sz="1300" b="1" dirty="0">
                <a:solidFill>
                  <a:srgbClr val="1E293B"/>
                </a:solidFill>
              </a:rPr>
              <a:t>No Fit / Potential Fit / Good Fit  +  fit score (0–100)</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Experiment Tracking and Hyperparameters</a:t>
            </a:r>
            <a:endParaRPr lang="en-US" sz="34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22 runs logged; every choice made on the validation set, test kept untouched</a:t>
            </a:r>
            <a:endParaRPr lang="en-US" sz="1600" dirty="0"/>
          </a:p>
        </p:txBody>
      </p:sp>
      <p:graphicFrame>
        <p:nvGraphicFramePr>
          <p:cNvPr id="6" name="Hyperparameter table"/>
          <p:cNvGraphicFramePr>
            <a:graphicFrameLocks noGrp="1"/>
          </p:cNvGraphicFramePr>
          <p:nvPr>
            <p:extLst>
              <p:ext uri="{D42A27DB-BD31-4B8C-83A1-F6EECF244321}">
                <p14:modId xmlns:p14="http://schemas.microsoft.com/office/powerpoint/2010/main" val="1579011935"/>
              </p:ext>
            </p:extLst>
          </p:nvPr>
        </p:nvGraphicFramePr>
        <p:xfrm>
          <a:off x="548640" y="1645920"/>
          <a:ext cx="6583680" cy="914400"/>
        </p:xfrm>
        <a:graphic>
          <a:graphicData uri="http://schemas.openxmlformats.org/drawingml/2006/table">
            <a:tbl>
              <a:tblPr/>
              <a:tblGrid>
                <a:gridCol w="1737360"/>
                <a:gridCol w="3108960"/>
                <a:gridCol w="1737360"/>
              </a:tblGrid>
              <a:tr h="502920">
                <a:tc>
                  <a:txBody>
                    <a:bodyPr/>
                    <a:lstStyle/>
                    <a:p>
                      <a:pPr indent="0" marL="0">
                        <a:buNone/>
                      </a:pPr>
                      <a:r>
                        <a:rPr lang="en-US" sz="1200" b="1" dirty="0">
                          <a:solidFill>
                            <a:srgbClr val="FFFFFF"/>
                          </a:solidFill>
                        </a:rPr>
                        <a:t>Model</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Settings tried</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Chosen</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r>
              <a:tr h="502920">
                <a:tc>
                  <a:txBody>
                    <a:bodyPr/>
                    <a:lstStyle/>
                    <a:p>
                      <a:pPr indent="0" marL="0">
                        <a:buNone/>
                      </a:pPr>
                      <a:r>
                        <a:rPr lang="en-US" sz="1200" dirty="0">
                          <a:solidFill>
                            <a:schemeClr val="tx1"/>
                          </a:solidFill>
                        </a:rPr>
                        <a:t>Logistic Regression</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C = 0.01, 0.1, 1, 10</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C = 0.01</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dirty="0">
                          <a:solidFill>
                            <a:schemeClr val="tx1"/>
                          </a:solidFill>
                        </a:rPr>
                        <a:t>Random Forest</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depth none / 10; min leaf 1 / 5 / 20; 300 trees</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depth none, leaf 5</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dirty="0">
                          <a:solidFill>
                            <a:schemeClr val="tx1"/>
                          </a:solidFill>
                        </a:rPr>
                        <a:t>Sentence-BERT model</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C = 0.01, 0.1, 1</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C = 0.01</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dirty="0">
                          <a:solidFill>
                            <a:schemeClr val="tx1"/>
                          </a:solidFill>
                        </a:rPr>
                        <a:t>XGBoost hybrid</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depth 3 / 5; learning rate 0.05; early stopping; with / without embeddings</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depth 5, with embeddings</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dirty="0">
                          <a:solidFill>
                            <a:schemeClr val="tx1"/>
                          </a:solidFill>
                        </a:rPr>
                        <a:t>DistilBERT</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learning rate 2e-5; batch 16; 2 then 4 epochs</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rPr>
                        <a:t>epoch 3</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5" name="Tracking 1 circle"/>
          <p:cNvSpPr/>
          <p:nvPr/>
        </p:nvSpPr>
        <p:spPr>
          <a:xfrm>
            <a:off x="548640" y="4892040"/>
            <a:ext cx="502920" cy="502920"/>
          </a:xfrm>
          <a:prstGeom prst="ellipse">
            <a:avLst/>
          </a:prstGeom>
          <a:solidFill>
            <a:srgbClr val="0F766E"/>
          </a:solidFill>
          <a:ln w="12700">
            <a:solidFill>
              <a:srgbClr val="0F766E"/>
            </a:solidFill>
            <a:prstDash val="solid"/>
          </a:ln>
        </p:spPr>
      </p:sp>
      <p:pic>
        <p:nvPicPr>
          <p:cNvPr id="6" name="Tracking 1 icon" descr="preencoded.png">    </p:cNvPr>
          <p:cNvPicPr>
            <a:picLocks noChangeAspect="1"/>
          </p:cNvPicPr>
          <p:nvPr/>
        </p:nvPicPr>
        <p:blipFill>
          <a:blip r:embed="rId1"/>
          <a:stretch>
            <a:fillRect/>
          </a:stretch>
        </p:blipFill>
        <p:spPr>
          <a:xfrm>
            <a:off x="674370" y="5017770"/>
            <a:ext cx="251460" cy="251460"/>
          </a:xfrm>
          <a:prstGeom prst="rect">
            <a:avLst/>
          </a:prstGeom>
        </p:spPr>
      </p:pic>
      <p:sp>
        <p:nvSpPr>
          <p:cNvPr id="7" name="Tracking text 1"/>
          <p:cNvSpPr txBox="1"/>
          <p:nvPr/>
        </p:nvSpPr>
        <p:spPr>
          <a:xfrm>
            <a:off x="1188720" y="4846320"/>
            <a:ext cx="5943600" cy="594360"/>
          </a:xfrm>
          <a:prstGeom prst="rect">
            <a:avLst/>
          </a:prstGeom>
          <a:noFill/>
          <a:ln/>
        </p:spPr>
        <p:txBody>
          <a:bodyPr wrap="square" lIns="0" tIns="0" rIns="0" bIns="0" rtlCol="0" anchor="ctr"/>
          <a:lstStyle/>
          <a:p>
            <a:pPr indent="0" marL="0">
              <a:buNone/>
            </a:pPr>
            <a:r>
              <a:rPr lang="en-US" sz="1300" dirty="0">
                <a:solidFill>
                  <a:schemeClr val="tx1"/>
                </a:solidFill>
              </a:rPr>
              <a:t>Every run saved to experiments.csv: model, features, settings, validation F1, accuracy, training time</a:t>
            </a:r>
            <a:endParaRPr lang="en-US" sz="1300" dirty="0"/>
          </a:p>
        </p:txBody>
      </p:sp>
      <p:sp>
        <p:nvSpPr>
          <p:cNvPr id="8" name="Tracking 2 circle"/>
          <p:cNvSpPr/>
          <p:nvPr/>
        </p:nvSpPr>
        <p:spPr>
          <a:xfrm>
            <a:off x="548640" y="5550408"/>
            <a:ext cx="502920" cy="502920"/>
          </a:xfrm>
          <a:prstGeom prst="ellipse">
            <a:avLst/>
          </a:prstGeom>
          <a:solidFill>
            <a:srgbClr val="0F766E"/>
          </a:solidFill>
          <a:ln w="12700">
            <a:solidFill>
              <a:srgbClr val="0F766E"/>
            </a:solidFill>
            <a:prstDash val="solid"/>
          </a:ln>
        </p:spPr>
      </p:sp>
      <p:pic>
        <p:nvPicPr>
          <p:cNvPr id="9" name="Tracking 2 icon" descr="preencoded.png">    </p:cNvPr>
          <p:cNvPicPr>
            <a:picLocks noChangeAspect="1"/>
          </p:cNvPicPr>
          <p:nvPr/>
        </p:nvPicPr>
        <p:blipFill>
          <a:blip r:embed="rId2"/>
          <a:stretch>
            <a:fillRect/>
          </a:stretch>
        </p:blipFill>
        <p:spPr>
          <a:xfrm>
            <a:off x="674370" y="5676138"/>
            <a:ext cx="251460" cy="251460"/>
          </a:xfrm>
          <a:prstGeom prst="rect">
            <a:avLst/>
          </a:prstGeom>
        </p:spPr>
      </p:pic>
      <p:sp>
        <p:nvSpPr>
          <p:cNvPr id="10" name="Tracking text 2"/>
          <p:cNvSpPr txBox="1"/>
          <p:nvPr/>
        </p:nvSpPr>
        <p:spPr>
          <a:xfrm>
            <a:off x="1188720" y="5504688"/>
            <a:ext cx="5943600" cy="594360"/>
          </a:xfrm>
          <a:prstGeom prst="rect">
            <a:avLst/>
          </a:prstGeom>
          <a:noFill/>
          <a:ln/>
        </p:spPr>
        <p:txBody>
          <a:bodyPr wrap="square" lIns="0" tIns="0" rIns="0" bIns="0" rtlCol="0" anchor="ctr"/>
          <a:lstStyle/>
          <a:p>
            <a:pPr indent="0" marL="0">
              <a:buNone/>
            </a:pPr>
            <a:r>
              <a:rPr lang="en-US" sz="1300" dirty="0">
                <a:solidFill>
                  <a:schemeClr val="tx1"/>
                </a:solidFill>
              </a:rPr>
              <a:t>Ablation: embeddings add +0.048 F1 to XGBoost (0.497 → 0.545)</a:t>
            </a:r>
            <a:endParaRPr lang="en-US" sz="1300" dirty="0"/>
          </a:p>
        </p:txBody>
      </p:sp>
      <p:graphicFrame>
        <p:nvGraphicFramePr>
          <p:cNvPr id="11" name="Validation F1 chart" descr=""/>
          <p:cNvGraphicFramePr/>
          <p:nvPr/>
        </p:nvGraphicFramePr>
        <p:xfrm>
          <a:off x="7406640" y="1645920"/>
          <a:ext cx="4206240" cy="448056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Evaluation Results and Error Analysis</a:t>
            </a:r>
            <a:endParaRPr lang="en-US" sz="34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On 71 unseen jobs, the hybrid model is best, and it shortlists far better than keywords</a:t>
            </a:r>
            <a:endParaRPr lang="en-US" sz="1600" dirty="0"/>
          </a:p>
        </p:txBody>
      </p:sp>
      <p:sp>
        <p:nvSpPr>
          <p:cNvPr id="4" name="KPI card 1"/>
          <p:cNvSpPr/>
          <p:nvPr/>
        </p:nvSpPr>
        <p:spPr>
          <a:xfrm>
            <a:off x="548640" y="1645920"/>
            <a:ext cx="2148840" cy="1234440"/>
          </a:xfrm>
          <a:prstGeom prst="roundRect">
            <a:avLst>
              <a:gd name="adj" fmla="val 8889"/>
            </a:avLst>
          </a:prstGeom>
          <a:solidFill>
            <a:schemeClr val="bg2"/>
          </a:solidFill>
          <a:ln w="12700">
            <a:solidFill>
              <a:schemeClr val="bg2"/>
            </a:solidFill>
            <a:prstDash val="solid"/>
          </a:ln>
        </p:spPr>
      </p:sp>
      <p:sp>
        <p:nvSpPr>
          <p:cNvPr id="5" name="KPI 1"/>
          <p:cNvSpPr txBox="1"/>
          <p:nvPr/>
        </p:nvSpPr>
        <p:spPr>
          <a:xfrm>
            <a:off x="548640" y="1691640"/>
            <a:ext cx="2148840" cy="68580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0.500</a:t>
            </a:r>
            <a:endParaRPr lang="en-US" sz="3200" dirty="0"/>
          </a:p>
        </p:txBody>
      </p:sp>
      <p:sp>
        <p:nvSpPr>
          <p:cNvPr id="6" name="KPI label 1"/>
          <p:cNvSpPr txBox="1"/>
          <p:nvPr/>
        </p:nvSpPr>
        <p:spPr>
          <a:xfrm>
            <a:off x="640080" y="2377440"/>
            <a:ext cx="1965960" cy="411480"/>
          </a:xfrm>
          <a:prstGeom prst="rect">
            <a:avLst/>
          </a:prstGeom>
          <a:noFill/>
          <a:ln/>
        </p:spPr>
        <p:txBody>
          <a:bodyPr wrap="square" lIns="0" tIns="0" rIns="0" bIns="0" rtlCol="0" anchor="ctr"/>
          <a:lstStyle/>
          <a:p>
            <a:pPr algn="ctr" indent="0" marL="0">
              <a:buNone/>
            </a:pPr>
            <a:r>
              <a:rPr lang="en-US" sz="1200" dirty="0">
                <a:solidFill>
                  <a:schemeClr val="tx1"/>
                </a:solidFill>
              </a:rPr>
              <a:t>Macro F1 (keyword 0.368)</a:t>
            </a:r>
            <a:endParaRPr lang="en-US" sz="1200" dirty="0"/>
          </a:p>
        </p:txBody>
      </p:sp>
      <p:sp>
        <p:nvSpPr>
          <p:cNvPr id="7" name="KPI card 2"/>
          <p:cNvSpPr/>
          <p:nvPr/>
        </p:nvSpPr>
        <p:spPr>
          <a:xfrm>
            <a:off x="2880360" y="1645920"/>
            <a:ext cx="2148840" cy="1234440"/>
          </a:xfrm>
          <a:prstGeom prst="roundRect">
            <a:avLst>
              <a:gd name="adj" fmla="val 8889"/>
            </a:avLst>
          </a:prstGeom>
          <a:solidFill>
            <a:schemeClr val="bg2"/>
          </a:solidFill>
          <a:ln w="12700">
            <a:solidFill>
              <a:schemeClr val="bg2"/>
            </a:solidFill>
            <a:prstDash val="solid"/>
          </a:ln>
        </p:spPr>
      </p:sp>
      <p:sp>
        <p:nvSpPr>
          <p:cNvPr id="8" name="KPI 2"/>
          <p:cNvSpPr txBox="1"/>
          <p:nvPr/>
        </p:nvSpPr>
        <p:spPr>
          <a:xfrm>
            <a:off x="2880360" y="1691640"/>
            <a:ext cx="2148840" cy="68580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0.662</a:t>
            </a:r>
            <a:endParaRPr lang="en-US" sz="3200" dirty="0"/>
          </a:p>
        </p:txBody>
      </p:sp>
      <p:sp>
        <p:nvSpPr>
          <p:cNvPr id="9" name="KPI label 2"/>
          <p:cNvSpPr txBox="1"/>
          <p:nvPr/>
        </p:nvSpPr>
        <p:spPr>
          <a:xfrm>
            <a:off x="2971800" y="2377440"/>
            <a:ext cx="1965960" cy="411480"/>
          </a:xfrm>
          <a:prstGeom prst="rect">
            <a:avLst/>
          </a:prstGeom>
          <a:noFill/>
          <a:ln/>
        </p:spPr>
        <p:txBody>
          <a:bodyPr wrap="square" lIns="0" tIns="0" rIns="0" bIns="0" rtlCol="0" anchor="ctr"/>
          <a:lstStyle/>
          <a:p>
            <a:pPr algn="ctr" indent="0" marL="0">
              <a:buNone/>
            </a:pPr>
            <a:r>
              <a:rPr lang="en-US" sz="1200" dirty="0">
                <a:solidFill>
                  <a:schemeClr val="tx1"/>
                </a:solidFill>
              </a:rPr>
              <a:t>Precision@5 (random 0.486)</a:t>
            </a:r>
            <a:endParaRPr lang="en-US" sz="1200" dirty="0"/>
          </a:p>
        </p:txBody>
      </p:sp>
      <p:sp>
        <p:nvSpPr>
          <p:cNvPr id="10" name="KPI card 3"/>
          <p:cNvSpPr/>
          <p:nvPr/>
        </p:nvSpPr>
        <p:spPr>
          <a:xfrm>
            <a:off x="5212080" y="1645920"/>
            <a:ext cx="2148840" cy="1234440"/>
          </a:xfrm>
          <a:prstGeom prst="roundRect">
            <a:avLst>
              <a:gd name="adj" fmla="val 8889"/>
            </a:avLst>
          </a:prstGeom>
          <a:solidFill>
            <a:schemeClr val="bg2"/>
          </a:solidFill>
          <a:ln w="12700">
            <a:solidFill>
              <a:schemeClr val="bg2"/>
            </a:solidFill>
            <a:prstDash val="solid"/>
          </a:ln>
        </p:spPr>
      </p:sp>
      <p:sp>
        <p:nvSpPr>
          <p:cNvPr id="11" name="KPI 3"/>
          <p:cNvSpPr txBox="1"/>
          <p:nvPr/>
        </p:nvSpPr>
        <p:spPr>
          <a:xfrm>
            <a:off x="5212080" y="1691640"/>
            <a:ext cx="2148840" cy="68580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0.781</a:t>
            </a:r>
            <a:endParaRPr lang="en-US" sz="3200" dirty="0"/>
          </a:p>
        </p:txBody>
      </p:sp>
      <p:sp>
        <p:nvSpPr>
          <p:cNvPr id="12" name="KPI label 3"/>
          <p:cNvSpPr txBox="1"/>
          <p:nvPr/>
        </p:nvSpPr>
        <p:spPr>
          <a:xfrm>
            <a:off x="5303520" y="2377440"/>
            <a:ext cx="1965960" cy="411480"/>
          </a:xfrm>
          <a:prstGeom prst="rect">
            <a:avLst/>
          </a:prstGeom>
          <a:noFill/>
          <a:ln/>
        </p:spPr>
        <p:txBody>
          <a:bodyPr wrap="square" lIns="0" tIns="0" rIns="0" bIns="0" rtlCol="0" anchor="ctr"/>
          <a:lstStyle/>
          <a:p>
            <a:pPr algn="ctr" indent="0" marL="0">
              <a:buNone/>
            </a:pPr>
            <a:r>
              <a:rPr lang="en-US" sz="1200" dirty="0">
                <a:solidFill>
                  <a:schemeClr val="tx1"/>
                </a:solidFill>
              </a:rPr>
              <a:t>NDCG@5 (keyword 0.634)</a:t>
            </a:r>
            <a:endParaRPr lang="en-US" sz="1200" dirty="0"/>
          </a:p>
        </p:txBody>
      </p:sp>
      <p:graphicFrame>
        <p:nvGraphicFramePr>
          <p:cNvPr id="13" name="Test F1 chart" descr=""/>
          <p:cNvGraphicFramePr/>
          <p:nvPr/>
        </p:nvGraphicFramePr>
        <p:xfrm>
          <a:off x="548640" y="3017520"/>
          <a:ext cx="6858000" cy="3154680"/>
        </p:xfrm>
        <a:graphic xmlns:a="http://schemas.openxmlformats.org/drawingml/2006/main">
          <a:graphicData uri="http://schemas.openxmlformats.org/drawingml/2006/chart">
            <c:chart xmlns:c="http://schemas.openxmlformats.org/drawingml/2006/chart" r:id="rId1"/>
          </a:graphicData>
        </a:graphic>
      </p:graphicFrame>
      <p:sp>
        <p:nvSpPr>
          <p:cNvPr id="14" name="CM heading"/>
          <p:cNvSpPr txBox="1"/>
          <p:nvPr/>
        </p:nvSpPr>
        <p:spPr>
          <a:xfrm>
            <a:off x="7680960" y="1645920"/>
            <a:ext cx="3931920" cy="320040"/>
          </a:xfrm>
          <a:prstGeom prst="rect">
            <a:avLst/>
          </a:prstGeom>
          <a:noFill/>
          <a:ln/>
        </p:spPr>
        <p:txBody>
          <a:bodyPr wrap="square" lIns="0" tIns="0" rIns="0" bIns="0" rtlCol="0" anchor="ctr"/>
          <a:lstStyle/>
          <a:p>
            <a:pPr indent="0" marL="0">
              <a:buNone/>
            </a:pPr>
            <a:r>
              <a:rPr lang="en-US" sz="1300" b="1" dirty="0">
                <a:solidFill>
                  <a:schemeClr val="tx2"/>
                </a:solidFill>
              </a:rPr>
              <a:t>Confusion matrix (rows: actual, columns: predicted)</a:t>
            </a:r>
            <a:endParaRPr lang="en-US" sz="1300" dirty="0"/>
          </a:p>
        </p:txBody>
      </p:sp>
      <p:graphicFrame>
        <p:nvGraphicFramePr>
          <p:cNvPr id="7" name="Confusion matrix"/>
          <p:cNvGraphicFramePr>
            <a:graphicFrameLocks noGrp="1"/>
          </p:cNvGraphicFramePr>
          <p:nvPr>
            <p:extLst>
              <p:ext uri="{D42A27DB-BD31-4B8C-83A1-F6EECF244321}">
                <p14:modId xmlns:p14="http://schemas.microsoft.com/office/powerpoint/2010/main" val="1579011935"/>
              </p:ext>
            </p:extLst>
          </p:nvPr>
        </p:nvGraphicFramePr>
        <p:xfrm>
          <a:off x="7680960" y="2011680"/>
          <a:ext cx="3931920" cy="914400"/>
        </p:xfrm>
        <a:graphic>
          <a:graphicData uri="http://schemas.openxmlformats.org/drawingml/2006/table">
            <a:tbl>
              <a:tblPr/>
              <a:tblGrid>
                <a:gridCol w="1051560"/>
                <a:gridCol w="868680"/>
                <a:gridCol w="1097280"/>
                <a:gridCol w="914400"/>
              </a:tblGrid>
              <a:tr h="329184">
                <a:tc>
                  <a:txBody>
                    <a:bodyPr/>
                    <a:lstStyle/>
                    <a:p>
                      <a:pPr algn="ctr" indent="0" marL="0">
                        <a:buNone/>
                      </a:pP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200" b="1" dirty="0">
                          <a:solidFill>
                            <a:srgbClr val="FFFFFF"/>
                          </a:solidFill>
                        </a:rPr>
                        <a:t>No</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200" b="1" dirty="0">
                          <a:solidFill>
                            <a:srgbClr val="FFFFFF"/>
                          </a:solidFill>
                        </a:rPr>
                        <a:t>Potential</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200" b="1" dirty="0">
                          <a:solidFill>
                            <a:srgbClr val="FFFFFF"/>
                          </a:solidFill>
                        </a:rPr>
                        <a:t>Good</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2A44"/>
                    </a:solidFill>
                  </a:tcPr>
                </a:tc>
              </a:tr>
              <a:tr h="329184">
                <a:tc>
                  <a:txBody>
                    <a:bodyPr/>
                    <a:lstStyle/>
                    <a:p>
                      <a:pPr indent="0" marL="0">
                        <a:buNone/>
                      </a:pPr>
                      <a:r>
                        <a:rPr lang="en-US" sz="1200" b="1" dirty="0">
                          <a:solidFill>
                            <a:schemeClr val="tx1"/>
                          </a:solidFill>
                        </a:rPr>
                        <a:t>No Fit</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chemeClr val="tx1"/>
                          </a:solidFill>
                        </a:rPr>
                        <a:t>608</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CFBF1"/>
                    </a:solidFill>
                  </a:tcPr>
                </a:tc>
                <a:tc>
                  <a:txBody>
                    <a:bodyPr/>
                    <a:lstStyle/>
                    <a:p>
                      <a:pPr algn="ctr" indent="0" marL="0">
                        <a:buNone/>
                      </a:pPr>
                      <a:r>
                        <a:rPr lang="en-US" sz="1200" dirty="0">
                          <a:solidFill>
                            <a:schemeClr val="tx1"/>
                          </a:solidFill>
                        </a:rPr>
                        <a:t>147</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chemeClr val="tx1"/>
                          </a:solidFill>
                        </a:rPr>
                        <a:t>102</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29184">
                <a:tc>
                  <a:txBody>
                    <a:bodyPr/>
                    <a:lstStyle/>
                    <a:p>
                      <a:pPr indent="0" marL="0">
                        <a:buNone/>
                      </a:pPr>
                      <a:r>
                        <a:rPr lang="en-US" sz="1200" b="1" dirty="0">
                          <a:solidFill>
                            <a:schemeClr val="tx1"/>
                          </a:solidFill>
                        </a:rPr>
                        <a:t>Potential</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chemeClr val="tx1"/>
                          </a:solidFill>
                        </a:rPr>
                        <a:t>151</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chemeClr val="tx1"/>
                          </a:solidFill>
                        </a:rPr>
                        <a:t>193</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CFBF1"/>
                    </a:solidFill>
                  </a:tcPr>
                </a:tc>
                <a:tc>
                  <a:txBody>
                    <a:bodyPr/>
                    <a:lstStyle/>
                    <a:p>
                      <a:pPr algn="ctr" indent="0" marL="0">
                        <a:buNone/>
                      </a:pPr>
                      <a:r>
                        <a:rPr lang="en-US" sz="1200" dirty="0">
                          <a:solidFill>
                            <a:schemeClr val="tx1"/>
                          </a:solidFill>
                        </a:rPr>
                        <a:t>100</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29184">
                <a:tc>
                  <a:txBody>
                    <a:bodyPr/>
                    <a:lstStyle/>
                    <a:p>
                      <a:pPr indent="0" marL="0">
                        <a:buNone/>
                      </a:pPr>
                      <a:r>
                        <a:rPr lang="en-US" sz="1200" b="1" dirty="0">
                          <a:solidFill>
                            <a:schemeClr val="tx1"/>
                          </a:solidFill>
                        </a:rPr>
                        <a:t>Good Fit</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chemeClr val="tx1"/>
                          </a:solidFill>
                        </a:rPr>
                        <a:t>125</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chemeClr val="tx1"/>
                          </a:solidFill>
                        </a:rPr>
                        <a:t>170</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chemeClr val="tx1"/>
                          </a:solidFill>
                        </a:rPr>
                        <a:t>163</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CCFBF1"/>
                    </a:solidFill>
                  </a:tcPr>
                </a:tc>
              </a:tr>
            </a:tbl>
          </a:graphicData>
        </a:graphic>
      </p:graphicFrame>
      <p:sp>
        <p:nvSpPr>
          <p:cNvPr id="16" name="Error bullets"/>
          <p:cNvSpPr txBox="1"/>
          <p:nvPr/>
        </p:nvSpPr>
        <p:spPr>
          <a:xfrm>
            <a:off x="7680960" y="3520440"/>
            <a:ext cx="393192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Good Fit is the hardest: only 163 of 458 found (recall 0.36)</a:t>
            </a:r>
            <a:endParaRPr lang="en-US" sz="1300" dirty="0"/>
          </a:p>
          <a:p>
            <a:pPr marL="342900" indent="-342900">
              <a:spcAft>
                <a:spcPts val="600"/>
              </a:spcAft>
              <a:buSzPct val="100000"/>
              <a:buChar char="•"/>
            </a:pPr>
            <a:r>
              <a:rPr lang="en-US" sz="1300" dirty="0">
                <a:solidFill>
                  <a:schemeClr val="tx1"/>
                </a:solidFill>
              </a:rPr>
              <a:t>Most mistakes are between neighbouring labels</a:t>
            </a:r>
            <a:endParaRPr lang="en-US" sz="1300" dirty="0"/>
          </a:p>
          <a:p>
            <a:pPr marL="342900" indent="-342900">
              <a:spcAft>
                <a:spcPts val="600"/>
              </a:spcAft>
              <a:buSzPct val="100000"/>
              <a:buChar char="•"/>
            </a:pPr>
            <a:r>
              <a:rPr lang="en-US" sz="1300" dirty="0">
                <a:solidFill>
                  <a:schemeClr val="tx1"/>
                </a:solidFill>
              </a:rPr>
              <a:t>Some labels look wrong, e.g. a sales resume marked Good Fit for a software job</a:t>
            </a:r>
            <a:endParaRPr lang="en-US" sz="1300" dirty="0"/>
          </a:p>
          <a:p>
            <a:pPr marL="342900" indent="-342900">
              <a:spcAft>
                <a:spcPts val="600"/>
              </a:spcAft>
              <a:buSzPct val="100000"/>
              <a:buChar char="•"/>
            </a:pPr>
            <a:r>
              <a:rPr lang="en-US" sz="1300" dirty="0">
                <a:solidFill>
                  <a:schemeClr val="tx1"/>
                </a:solidFill>
              </a:rPr>
              <a:t>Resume alone scores 0.441, so labels partly depend on the resume itself</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Deployment Demo and Inference Workflow</a:t>
            </a:r>
            <a:endParaRPr lang="en-US" sz="34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Runs locally on a laptop CPU: Streamlit app for recruiters, FastAPI for other systems</a:t>
            </a:r>
            <a:endParaRPr lang="en-US" sz="1600" dirty="0"/>
          </a:p>
        </p:txBody>
      </p:sp>
      <p:sp>
        <p:nvSpPr>
          <p:cNvPr id="4" name="Step circle 1"/>
          <p:cNvSpPr/>
          <p:nvPr/>
        </p:nvSpPr>
        <p:spPr>
          <a:xfrm>
            <a:off x="548640" y="1691640"/>
            <a:ext cx="438912" cy="438912"/>
          </a:xfrm>
          <a:prstGeom prst="ellipse">
            <a:avLst/>
          </a:prstGeom>
          <a:solidFill>
            <a:srgbClr val="0F766E"/>
          </a:solidFill>
          <a:ln w="12700">
            <a:solidFill>
              <a:srgbClr val="0F766E"/>
            </a:solidFill>
            <a:prstDash val="solid"/>
          </a:ln>
        </p:spPr>
      </p:sp>
      <p:sp>
        <p:nvSpPr>
          <p:cNvPr id="5" name="Step number 1"/>
          <p:cNvSpPr txBox="1"/>
          <p:nvPr/>
        </p:nvSpPr>
        <p:spPr>
          <a:xfrm>
            <a:off x="548640" y="169164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tep text 1"/>
          <p:cNvSpPr txBox="1"/>
          <p:nvPr/>
        </p:nvSpPr>
        <p:spPr>
          <a:xfrm>
            <a:off x="1143000" y="1645920"/>
            <a:ext cx="4114800" cy="530352"/>
          </a:xfrm>
          <a:prstGeom prst="rect">
            <a:avLst/>
          </a:prstGeom>
          <a:noFill/>
          <a:ln/>
        </p:spPr>
        <p:txBody>
          <a:bodyPr wrap="square" lIns="0" tIns="0" rIns="0" bIns="0" rtlCol="0" anchor="ctr"/>
          <a:lstStyle/>
          <a:p>
            <a:pPr indent="0" marL="0">
              <a:buNone/>
            </a:pPr>
            <a:r>
              <a:rPr lang="en-US" sz="1300" dirty="0">
                <a:solidFill>
                  <a:schemeClr val="tx1"/>
                </a:solidFill>
              </a:rPr>
              <a:t>Paste a job description; upload or paste resumes (PDF / TXT)</a:t>
            </a:r>
            <a:endParaRPr lang="en-US" sz="1300" dirty="0"/>
          </a:p>
        </p:txBody>
      </p:sp>
      <p:sp>
        <p:nvSpPr>
          <p:cNvPr id="7" name="Step circle 2"/>
          <p:cNvSpPr/>
          <p:nvPr/>
        </p:nvSpPr>
        <p:spPr>
          <a:xfrm>
            <a:off x="548640" y="2313432"/>
            <a:ext cx="438912" cy="438912"/>
          </a:xfrm>
          <a:prstGeom prst="ellipse">
            <a:avLst/>
          </a:prstGeom>
          <a:solidFill>
            <a:srgbClr val="0F766E"/>
          </a:solidFill>
          <a:ln w="12700">
            <a:solidFill>
              <a:srgbClr val="0F766E"/>
            </a:solidFill>
            <a:prstDash val="solid"/>
          </a:ln>
        </p:spPr>
      </p:sp>
      <p:sp>
        <p:nvSpPr>
          <p:cNvPr id="8" name="Step number 2"/>
          <p:cNvSpPr txBox="1"/>
          <p:nvPr/>
        </p:nvSpPr>
        <p:spPr>
          <a:xfrm>
            <a:off x="548640" y="231343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Step text 2"/>
          <p:cNvSpPr txBox="1"/>
          <p:nvPr/>
        </p:nvSpPr>
        <p:spPr>
          <a:xfrm>
            <a:off x="1143000" y="2267712"/>
            <a:ext cx="4114800" cy="530352"/>
          </a:xfrm>
          <a:prstGeom prst="rect">
            <a:avLst/>
          </a:prstGeom>
          <a:noFill/>
          <a:ln/>
        </p:spPr>
        <p:txBody>
          <a:bodyPr wrap="square" lIns="0" tIns="0" rIns="0" bIns="0" rtlCol="0" anchor="ctr"/>
          <a:lstStyle/>
          <a:p>
            <a:pPr indent="0" marL="0">
              <a:buNone/>
            </a:pPr>
            <a:r>
              <a:rPr lang="en-US" sz="1300" dirty="0">
                <a:solidFill>
                  <a:schemeClr val="tx1"/>
                </a:solidFill>
              </a:rPr>
              <a:t>Clean the text with the same rules used in training</a:t>
            </a:r>
            <a:endParaRPr lang="en-US" sz="1300" dirty="0"/>
          </a:p>
        </p:txBody>
      </p:sp>
      <p:sp>
        <p:nvSpPr>
          <p:cNvPr id="10" name="Step circle 3"/>
          <p:cNvSpPr/>
          <p:nvPr/>
        </p:nvSpPr>
        <p:spPr>
          <a:xfrm>
            <a:off x="548640" y="2935224"/>
            <a:ext cx="438912" cy="438912"/>
          </a:xfrm>
          <a:prstGeom prst="ellipse">
            <a:avLst/>
          </a:prstGeom>
          <a:solidFill>
            <a:srgbClr val="0F766E"/>
          </a:solidFill>
          <a:ln w="12700">
            <a:solidFill>
              <a:srgbClr val="0F766E"/>
            </a:solidFill>
            <a:prstDash val="solid"/>
          </a:ln>
        </p:spPr>
      </p:sp>
      <p:sp>
        <p:nvSpPr>
          <p:cNvPr id="11" name="Step number 3"/>
          <p:cNvSpPr txBox="1"/>
          <p:nvPr/>
        </p:nvSpPr>
        <p:spPr>
          <a:xfrm>
            <a:off x="548640" y="2935224"/>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Step text 3"/>
          <p:cNvSpPr txBox="1"/>
          <p:nvPr/>
        </p:nvSpPr>
        <p:spPr>
          <a:xfrm>
            <a:off x="1143000" y="2889504"/>
            <a:ext cx="4114800" cy="530352"/>
          </a:xfrm>
          <a:prstGeom prst="rect">
            <a:avLst/>
          </a:prstGeom>
          <a:noFill/>
          <a:ln/>
        </p:spPr>
        <p:txBody>
          <a:bodyPr wrap="square" lIns="0" tIns="0" rIns="0" bIns="0" rtlCol="0" anchor="ctr"/>
          <a:lstStyle/>
          <a:p>
            <a:pPr indent="0" marL="0">
              <a:buNone/>
            </a:pPr>
            <a:r>
              <a:rPr lang="en-US" sz="1300" dirty="0">
                <a:solidFill>
                  <a:schemeClr val="tx1"/>
                </a:solidFill>
              </a:rPr>
              <a:t>Find skills (203-skill list) and years of experience</a:t>
            </a:r>
            <a:endParaRPr lang="en-US" sz="1300" dirty="0"/>
          </a:p>
        </p:txBody>
      </p:sp>
      <p:sp>
        <p:nvSpPr>
          <p:cNvPr id="13" name="Step circle 4"/>
          <p:cNvSpPr/>
          <p:nvPr/>
        </p:nvSpPr>
        <p:spPr>
          <a:xfrm>
            <a:off x="548640" y="3557016"/>
            <a:ext cx="438912" cy="438912"/>
          </a:xfrm>
          <a:prstGeom prst="ellipse">
            <a:avLst/>
          </a:prstGeom>
          <a:solidFill>
            <a:srgbClr val="0F766E"/>
          </a:solidFill>
          <a:ln w="12700">
            <a:solidFill>
              <a:srgbClr val="0F766E"/>
            </a:solidFill>
            <a:prstDash val="solid"/>
          </a:ln>
        </p:spPr>
      </p:sp>
      <p:sp>
        <p:nvSpPr>
          <p:cNvPr id="14" name="Step number 4"/>
          <p:cNvSpPr txBox="1"/>
          <p:nvPr/>
        </p:nvSpPr>
        <p:spPr>
          <a:xfrm>
            <a:off x="548640" y="355701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Step text 4"/>
          <p:cNvSpPr txBox="1"/>
          <p:nvPr/>
        </p:nvSpPr>
        <p:spPr>
          <a:xfrm>
            <a:off x="1143000" y="3511296"/>
            <a:ext cx="4114800" cy="530352"/>
          </a:xfrm>
          <a:prstGeom prst="rect">
            <a:avLst/>
          </a:prstGeom>
          <a:noFill/>
          <a:ln/>
        </p:spPr>
        <p:txBody>
          <a:bodyPr wrap="square" lIns="0" tIns="0" rIns="0" bIns="0" rtlCol="0" anchor="ctr"/>
          <a:lstStyle/>
          <a:p>
            <a:pPr indent="0" marL="0">
              <a:buNone/>
            </a:pPr>
            <a:r>
              <a:rPr lang="en-US" sz="1300" dirty="0">
                <a:solidFill>
                  <a:schemeClr val="tx1"/>
                </a:solidFill>
              </a:rPr>
              <a:t>Build 14 features + 32 embedding values</a:t>
            </a:r>
            <a:endParaRPr lang="en-US" sz="1300" dirty="0"/>
          </a:p>
        </p:txBody>
      </p:sp>
      <p:sp>
        <p:nvSpPr>
          <p:cNvPr id="16" name="Step circle 5"/>
          <p:cNvSpPr/>
          <p:nvPr/>
        </p:nvSpPr>
        <p:spPr>
          <a:xfrm>
            <a:off x="548640" y="4178808"/>
            <a:ext cx="438912" cy="438912"/>
          </a:xfrm>
          <a:prstGeom prst="ellipse">
            <a:avLst/>
          </a:prstGeom>
          <a:solidFill>
            <a:srgbClr val="0F766E"/>
          </a:solidFill>
          <a:ln w="12700">
            <a:solidFill>
              <a:srgbClr val="0F766E"/>
            </a:solidFill>
            <a:prstDash val="solid"/>
          </a:ln>
        </p:spPr>
      </p:sp>
      <p:sp>
        <p:nvSpPr>
          <p:cNvPr id="17" name="Step number 5"/>
          <p:cNvSpPr txBox="1"/>
          <p:nvPr/>
        </p:nvSpPr>
        <p:spPr>
          <a:xfrm>
            <a:off x="548640" y="417880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Step text 5"/>
          <p:cNvSpPr txBox="1"/>
          <p:nvPr/>
        </p:nvSpPr>
        <p:spPr>
          <a:xfrm>
            <a:off x="1143000" y="4133088"/>
            <a:ext cx="4114800" cy="530352"/>
          </a:xfrm>
          <a:prstGeom prst="rect">
            <a:avLst/>
          </a:prstGeom>
          <a:noFill/>
          <a:ln/>
        </p:spPr>
        <p:txBody>
          <a:bodyPr wrap="square" lIns="0" tIns="0" rIns="0" bIns="0" rtlCol="0" anchor="ctr"/>
          <a:lstStyle/>
          <a:p>
            <a:pPr indent="0" marL="0">
              <a:buNone/>
            </a:pPr>
            <a:r>
              <a:rPr lang="en-US" sz="1300" dirty="0">
                <a:solidFill>
                  <a:schemeClr val="tx1"/>
                </a:solidFill>
              </a:rPr>
              <a:t>XGBoost predicts the label and a fit score</a:t>
            </a:r>
            <a:endParaRPr lang="en-US" sz="1300" dirty="0"/>
          </a:p>
        </p:txBody>
      </p:sp>
      <p:sp>
        <p:nvSpPr>
          <p:cNvPr id="19" name="Step circle 6"/>
          <p:cNvSpPr/>
          <p:nvPr/>
        </p:nvSpPr>
        <p:spPr>
          <a:xfrm>
            <a:off x="548640" y="4800600"/>
            <a:ext cx="438912" cy="438912"/>
          </a:xfrm>
          <a:prstGeom prst="ellipse">
            <a:avLst/>
          </a:prstGeom>
          <a:solidFill>
            <a:srgbClr val="0F766E"/>
          </a:solidFill>
          <a:ln w="12700">
            <a:solidFill>
              <a:srgbClr val="0F766E"/>
            </a:solidFill>
            <a:prstDash val="solid"/>
          </a:ln>
        </p:spPr>
      </p:sp>
      <p:sp>
        <p:nvSpPr>
          <p:cNvPr id="20" name="Step number 6"/>
          <p:cNvSpPr txBox="1"/>
          <p:nvPr/>
        </p:nvSpPr>
        <p:spPr>
          <a:xfrm>
            <a:off x="548640" y="480060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Step text 6"/>
          <p:cNvSpPr txBox="1"/>
          <p:nvPr/>
        </p:nvSpPr>
        <p:spPr>
          <a:xfrm>
            <a:off x="1143000" y="4754880"/>
            <a:ext cx="4114800" cy="530352"/>
          </a:xfrm>
          <a:prstGeom prst="rect">
            <a:avLst/>
          </a:prstGeom>
          <a:noFill/>
          <a:ln/>
        </p:spPr>
        <p:txBody>
          <a:bodyPr wrap="square" lIns="0" tIns="0" rIns="0" bIns="0" rtlCol="0" anchor="ctr"/>
          <a:lstStyle/>
          <a:p>
            <a:pPr indent="0" marL="0">
              <a:buNone/>
            </a:pPr>
            <a:r>
              <a:rPr lang="en-US" sz="1300" dirty="0">
                <a:solidFill>
                  <a:schemeClr val="tx1"/>
                </a:solidFill>
              </a:rPr>
              <a:t>Rank candidates; show matched and missing skills</a:t>
            </a:r>
            <a:endParaRPr lang="en-US" sz="1300" dirty="0"/>
          </a:p>
        </p:txBody>
      </p:sp>
      <p:sp>
        <p:nvSpPr>
          <p:cNvPr id="22" name="Run card"/>
          <p:cNvSpPr/>
          <p:nvPr/>
        </p:nvSpPr>
        <p:spPr>
          <a:xfrm>
            <a:off x="548640" y="5440680"/>
            <a:ext cx="4709160" cy="731520"/>
          </a:xfrm>
          <a:prstGeom prst="roundRect">
            <a:avLst>
              <a:gd name="adj" fmla="val 15000"/>
            </a:avLst>
          </a:prstGeom>
          <a:solidFill>
            <a:schemeClr val="bg2"/>
          </a:solidFill>
          <a:ln w="12700">
            <a:solidFill>
              <a:schemeClr val="bg2"/>
            </a:solidFill>
            <a:prstDash val="solid"/>
          </a:ln>
        </p:spPr>
      </p:sp>
      <p:sp>
        <p:nvSpPr>
          <p:cNvPr id="23" name="Run text"/>
          <p:cNvSpPr txBox="1"/>
          <p:nvPr/>
        </p:nvSpPr>
        <p:spPr>
          <a:xfrm>
            <a:off x="685800" y="5440680"/>
            <a:ext cx="4480560" cy="73152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streamlit run app/streamlit_app.py</a:t>
            </a:r>
            <a:endParaRPr lang="en-US" sz="1100" dirty="0"/>
          </a:p>
          <a:p>
            <a:pPr indent="0" marL="0">
              <a:buNone/>
            </a:pPr>
            <a:r>
              <a:rPr lang="en-US" sz="1100" dirty="0">
                <a:solidFill>
                  <a:schemeClr val="tx1"/>
                </a:solidFill>
              </a:rPr>
              <a:t>~1 second for 4 full resumes; laptop results identical to training (F1 0.500)</a:t>
            </a:r>
            <a:endParaRPr lang="en-US" sz="1100" dirty="0"/>
          </a:p>
        </p:txBody>
      </p:sp>
      <p:pic>
        <p:nvPicPr>
          <p:cNvPr id="24" name="Ranked table screenshot" descr="ranked.png">    </p:cNvPr>
          <p:cNvPicPr>
            <a:picLocks noChangeAspect="1"/>
          </p:cNvPicPr>
          <p:nvPr/>
        </p:nvPicPr>
        <p:blipFill>
          <a:blip r:embed="rId1"/>
          <a:stretch>
            <a:fillRect/>
          </a:stretch>
        </p:blipFill>
        <p:spPr>
          <a:xfrm>
            <a:off x="5623560" y="1645920"/>
            <a:ext cx="5989320" cy="2376808"/>
          </a:xfrm>
          <a:prstGeom prst="rect">
            <a:avLst/>
          </a:prstGeom>
        </p:spPr>
      </p:pic>
      <p:sp>
        <p:nvSpPr>
          <p:cNvPr id="25" name="Demo caption"/>
          <p:cNvSpPr txBox="1"/>
          <p:nvPr/>
        </p:nvSpPr>
        <p:spPr>
          <a:xfrm>
            <a:off x="5623560" y="4069080"/>
            <a:ext cx="5989320" cy="320040"/>
          </a:xfrm>
          <a:prstGeom prst="rect">
            <a:avLst/>
          </a:prstGeom>
          <a:noFill/>
          <a:ln/>
        </p:spPr>
        <p:txBody>
          <a:bodyPr wrap="square" lIns="0" tIns="0" rIns="0" bIns="0" rtlCol="0" anchor="ctr"/>
          <a:lstStyle/>
          <a:p>
            <a:pPr indent="0" marL="0">
              <a:buNone/>
            </a:pPr>
            <a:r>
              <a:rPr lang="en-US" sz="1200" b="1" dirty="0">
                <a:solidFill>
                  <a:schemeClr val="tx2"/>
                </a:solidFill>
              </a:rPr>
              <a:t>Demo: 3 correct predictions + 1 failure case (resume_4: actually Good Fit, predicted No Fit)</a:t>
            </a:r>
            <a:endParaRPr lang="en-US" sz="1200" dirty="0"/>
          </a:p>
        </p:txBody>
      </p:sp>
      <p:pic>
        <p:nvPicPr>
          <p:cNvPr id="26" name="Failure case screenshot" descr="fail.png">    </p:cNvPr>
          <p:cNvPicPr>
            <a:picLocks noChangeAspect="1"/>
          </p:cNvPicPr>
          <p:nvPr/>
        </p:nvPicPr>
        <p:blipFill>
          <a:blip r:embed="rId2"/>
          <a:stretch>
            <a:fillRect/>
          </a:stretch>
        </p:blipFill>
        <p:spPr>
          <a:xfrm>
            <a:off x="5623560" y="4434840"/>
            <a:ext cx="5989320" cy="1655632"/>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Risks, Limitations, Ethics and Future Work</a:t>
            </a:r>
            <a:endParaRPr lang="en-US" sz="34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A useful shortlisting aid, not a replacement for the recruiter</a:t>
            </a:r>
            <a:endParaRPr lang="en-US" sz="1600" dirty="0"/>
          </a:p>
        </p:txBody>
      </p:sp>
      <p:sp>
        <p:nvSpPr>
          <p:cNvPr id="4" name="Limitations card"/>
          <p:cNvSpPr/>
          <p:nvPr/>
        </p:nvSpPr>
        <p:spPr>
          <a:xfrm>
            <a:off x="548640" y="1645920"/>
            <a:ext cx="5440680" cy="2194560"/>
          </a:xfrm>
          <a:prstGeom prst="roundRect">
            <a:avLst>
              <a:gd name="adj" fmla="val 5000"/>
            </a:avLst>
          </a:prstGeom>
          <a:solidFill>
            <a:schemeClr val="bg2"/>
          </a:solidFill>
          <a:ln w="12700">
            <a:solidFill>
              <a:schemeClr val="bg2"/>
            </a:solidFill>
            <a:prstDash val="solid"/>
          </a:ln>
        </p:spPr>
      </p:sp>
      <p:sp>
        <p:nvSpPr>
          <p:cNvPr id="5" name="Limitations circle"/>
          <p:cNvSpPr/>
          <p:nvPr/>
        </p:nvSpPr>
        <p:spPr>
          <a:xfrm>
            <a:off x="777240" y="1874520"/>
            <a:ext cx="548640" cy="548640"/>
          </a:xfrm>
          <a:prstGeom prst="ellipse">
            <a:avLst/>
          </a:prstGeom>
          <a:solidFill>
            <a:srgbClr val="F59E0B"/>
          </a:solidFill>
          <a:ln w="12700">
            <a:solidFill>
              <a:srgbClr val="F59E0B"/>
            </a:solidFill>
            <a:prstDash val="solid"/>
          </a:ln>
        </p:spPr>
      </p:sp>
      <p:pic>
        <p:nvPicPr>
          <p:cNvPr id="6" name="Limitations icon" descr="preencoded.png">    </p:cNvPr>
          <p:cNvPicPr>
            <a:picLocks noChangeAspect="1"/>
          </p:cNvPicPr>
          <p:nvPr/>
        </p:nvPicPr>
        <p:blipFill>
          <a:blip r:embed="rId1"/>
          <a:stretch>
            <a:fillRect/>
          </a:stretch>
        </p:blipFill>
        <p:spPr>
          <a:xfrm>
            <a:off x="914400" y="2011680"/>
            <a:ext cx="274320" cy="274320"/>
          </a:xfrm>
          <a:prstGeom prst="rect">
            <a:avLst/>
          </a:prstGeom>
        </p:spPr>
      </p:pic>
      <p:sp>
        <p:nvSpPr>
          <p:cNvPr id="7" name="Limitations heading"/>
          <p:cNvSpPr txBox="1"/>
          <p:nvPr/>
        </p:nvSpPr>
        <p:spPr>
          <a:xfrm>
            <a:off x="1508760" y="187452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Limitations</a:t>
            </a:r>
            <a:endParaRPr lang="en-US" sz="1700" dirty="0"/>
          </a:p>
        </p:txBody>
      </p:sp>
      <p:sp>
        <p:nvSpPr>
          <p:cNvPr id="8" name="Limitations items"/>
          <p:cNvSpPr txBox="1"/>
          <p:nvPr/>
        </p:nvSpPr>
        <p:spPr>
          <a:xfrm>
            <a:off x="822960" y="2514600"/>
            <a:ext cx="4983480" cy="12344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Good Fit often missed (recall 0.36)</a:t>
            </a:r>
            <a:endParaRPr lang="en-US" sz="1300" dirty="0"/>
          </a:p>
          <a:p>
            <a:pPr marL="342900" indent="-342900">
              <a:spcAft>
                <a:spcPts val="300"/>
              </a:spcAft>
              <a:buSzPct val="100000"/>
              <a:buChar char="•"/>
            </a:pPr>
            <a:r>
              <a:rPr lang="en-US" sz="1300" dirty="0">
                <a:solidFill>
                  <a:schemeClr val="tx1"/>
                </a:solidFill>
              </a:rPr>
              <a:t>Experience read only from job dates</a:t>
            </a:r>
            <a:endParaRPr lang="en-US" sz="1300" dirty="0"/>
          </a:p>
          <a:p>
            <a:pPr marL="342900" indent="-342900">
              <a:spcAft>
                <a:spcPts val="300"/>
              </a:spcAft>
              <a:buSzPct val="100000"/>
              <a:buChar char="•"/>
            </a:pPr>
            <a:r>
              <a:rPr lang="en-US" sz="1300" dirty="0">
                <a:solidFill>
                  <a:schemeClr val="tx1"/>
                </a:solidFill>
              </a:rPr>
              <a:t>Labels partly tied to the resume; some look wrong</a:t>
            </a:r>
            <a:endParaRPr lang="en-US" sz="1300" dirty="0"/>
          </a:p>
          <a:p>
            <a:pPr marL="342900" indent="-342900">
              <a:spcAft>
                <a:spcPts val="300"/>
              </a:spcAft>
              <a:buSzPct val="100000"/>
              <a:buChar char="•"/>
            </a:pPr>
            <a:r>
              <a:rPr lang="en-US" sz="1300" dirty="0">
                <a:solidFill>
                  <a:schemeClr val="tx1"/>
                </a:solidFill>
              </a:rPr>
              <a:t>Short resumes are less reliable</a:t>
            </a:r>
            <a:endParaRPr lang="en-US" sz="1300" dirty="0"/>
          </a:p>
        </p:txBody>
      </p:sp>
      <p:sp>
        <p:nvSpPr>
          <p:cNvPr id="9" name="Risks card"/>
          <p:cNvSpPr/>
          <p:nvPr/>
        </p:nvSpPr>
        <p:spPr>
          <a:xfrm>
            <a:off x="6172200" y="1645920"/>
            <a:ext cx="5440680" cy="2194560"/>
          </a:xfrm>
          <a:prstGeom prst="roundRect">
            <a:avLst>
              <a:gd name="adj" fmla="val 5000"/>
            </a:avLst>
          </a:prstGeom>
          <a:solidFill>
            <a:schemeClr val="bg2"/>
          </a:solidFill>
          <a:ln w="12700">
            <a:solidFill>
              <a:schemeClr val="bg2"/>
            </a:solidFill>
            <a:prstDash val="solid"/>
          </a:ln>
        </p:spPr>
      </p:sp>
      <p:sp>
        <p:nvSpPr>
          <p:cNvPr id="10" name="Risks circle"/>
          <p:cNvSpPr/>
          <p:nvPr/>
        </p:nvSpPr>
        <p:spPr>
          <a:xfrm>
            <a:off x="6400800" y="1874520"/>
            <a:ext cx="548640" cy="548640"/>
          </a:xfrm>
          <a:prstGeom prst="ellipse">
            <a:avLst/>
          </a:prstGeom>
          <a:solidFill>
            <a:srgbClr val="B45309"/>
          </a:solidFill>
          <a:ln w="12700">
            <a:solidFill>
              <a:srgbClr val="B45309"/>
            </a:solidFill>
            <a:prstDash val="solid"/>
          </a:ln>
        </p:spPr>
      </p:sp>
      <p:pic>
        <p:nvPicPr>
          <p:cNvPr id="11" name="Risks icon" descr="preencoded.png">    </p:cNvPr>
          <p:cNvPicPr>
            <a:picLocks noChangeAspect="1"/>
          </p:cNvPicPr>
          <p:nvPr/>
        </p:nvPicPr>
        <p:blipFill>
          <a:blip r:embed="rId2"/>
          <a:stretch>
            <a:fillRect/>
          </a:stretch>
        </p:blipFill>
        <p:spPr>
          <a:xfrm>
            <a:off x="6537960" y="2011680"/>
            <a:ext cx="274320" cy="274320"/>
          </a:xfrm>
          <a:prstGeom prst="rect">
            <a:avLst/>
          </a:prstGeom>
        </p:spPr>
      </p:pic>
      <p:sp>
        <p:nvSpPr>
          <p:cNvPr id="12" name="Risks heading"/>
          <p:cNvSpPr txBox="1"/>
          <p:nvPr/>
        </p:nvSpPr>
        <p:spPr>
          <a:xfrm>
            <a:off x="7132320" y="187452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Risks</a:t>
            </a:r>
            <a:endParaRPr lang="en-US" sz="1700" dirty="0"/>
          </a:p>
        </p:txBody>
      </p:sp>
      <p:sp>
        <p:nvSpPr>
          <p:cNvPr id="13" name="Risks items"/>
          <p:cNvSpPr txBox="1"/>
          <p:nvPr/>
        </p:nvSpPr>
        <p:spPr>
          <a:xfrm>
            <a:off x="6446520" y="2514600"/>
            <a:ext cx="4983480" cy="12344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May not transfer to other industries or formats</a:t>
            </a:r>
            <a:endParaRPr lang="en-US" sz="1300" dirty="0"/>
          </a:p>
          <a:p>
            <a:pPr marL="342900" indent="-342900">
              <a:spcAft>
                <a:spcPts val="300"/>
              </a:spcAft>
              <a:buSzPct val="100000"/>
              <a:buChar char="•"/>
            </a:pPr>
            <a:r>
              <a:rPr lang="en-US" sz="1300" dirty="0">
                <a:solidFill>
                  <a:schemeClr val="tx1"/>
                </a:solidFill>
              </a:rPr>
              <a:t>Keyword skill matching can pick up noise (e.g. "legal")</a:t>
            </a:r>
            <a:endParaRPr lang="en-US" sz="1300" dirty="0"/>
          </a:p>
          <a:p>
            <a:pPr marL="342900" indent="-342900">
              <a:spcAft>
                <a:spcPts val="300"/>
              </a:spcAft>
              <a:buSzPct val="100000"/>
              <a:buChar char="•"/>
            </a:pPr>
            <a:r>
              <a:rPr lang="en-US" sz="1300" dirty="0">
                <a:solidFill>
                  <a:schemeClr val="tx1"/>
                </a:solidFill>
              </a:rPr>
              <a:t>Recruiters could over-trust the score</a:t>
            </a:r>
            <a:endParaRPr lang="en-US" sz="1300" dirty="0"/>
          </a:p>
        </p:txBody>
      </p:sp>
      <p:sp>
        <p:nvSpPr>
          <p:cNvPr id="14" name="Ethics and fairness card"/>
          <p:cNvSpPr/>
          <p:nvPr/>
        </p:nvSpPr>
        <p:spPr>
          <a:xfrm>
            <a:off x="548640" y="3977640"/>
            <a:ext cx="5440680" cy="2194560"/>
          </a:xfrm>
          <a:prstGeom prst="roundRect">
            <a:avLst>
              <a:gd name="adj" fmla="val 5000"/>
            </a:avLst>
          </a:prstGeom>
          <a:solidFill>
            <a:schemeClr val="bg2"/>
          </a:solidFill>
          <a:ln w="12700">
            <a:solidFill>
              <a:schemeClr val="bg2"/>
            </a:solidFill>
            <a:prstDash val="solid"/>
          </a:ln>
        </p:spPr>
      </p:sp>
      <p:sp>
        <p:nvSpPr>
          <p:cNvPr id="15" name="Ethics and fairness circle"/>
          <p:cNvSpPr/>
          <p:nvPr/>
        </p:nvSpPr>
        <p:spPr>
          <a:xfrm>
            <a:off x="777240" y="4206240"/>
            <a:ext cx="548640" cy="548640"/>
          </a:xfrm>
          <a:prstGeom prst="ellipse">
            <a:avLst/>
          </a:prstGeom>
          <a:solidFill>
            <a:srgbClr val="0F766E"/>
          </a:solidFill>
          <a:ln w="12700">
            <a:solidFill>
              <a:srgbClr val="0F766E"/>
            </a:solidFill>
            <a:prstDash val="solid"/>
          </a:ln>
        </p:spPr>
      </p:sp>
      <p:pic>
        <p:nvPicPr>
          <p:cNvPr id="16" name="Ethics and fairness icon" descr="preencoded.png">    </p:cNvPr>
          <p:cNvPicPr>
            <a:picLocks noChangeAspect="1"/>
          </p:cNvPicPr>
          <p:nvPr/>
        </p:nvPicPr>
        <p:blipFill>
          <a:blip r:embed="rId3"/>
          <a:stretch>
            <a:fillRect/>
          </a:stretch>
        </p:blipFill>
        <p:spPr>
          <a:xfrm>
            <a:off x="914400" y="4343400"/>
            <a:ext cx="274320" cy="274320"/>
          </a:xfrm>
          <a:prstGeom prst="rect">
            <a:avLst/>
          </a:prstGeom>
        </p:spPr>
      </p:pic>
      <p:sp>
        <p:nvSpPr>
          <p:cNvPr id="17" name="Ethics and fairness heading"/>
          <p:cNvSpPr txBox="1"/>
          <p:nvPr/>
        </p:nvSpPr>
        <p:spPr>
          <a:xfrm>
            <a:off x="1508760" y="420624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Ethics and fairness</a:t>
            </a:r>
            <a:endParaRPr lang="en-US" sz="1700" dirty="0"/>
          </a:p>
        </p:txBody>
      </p:sp>
      <p:sp>
        <p:nvSpPr>
          <p:cNvPr id="18" name="Ethics and fairness items"/>
          <p:cNvSpPr txBox="1"/>
          <p:nvPr/>
        </p:nvSpPr>
        <p:spPr>
          <a:xfrm>
            <a:off x="822960" y="4846320"/>
            <a:ext cx="4983480" cy="12344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No personal details used: only job vs resume comparisons</a:t>
            </a:r>
            <a:endParaRPr lang="en-US" sz="1300" dirty="0"/>
          </a:p>
          <a:p>
            <a:pPr marL="342900" indent="-342900">
              <a:spcAft>
                <a:spcPts val="300"/>
              </a:spcAft>
              <a:buSzPct val="100000"/>
              <a:buChar char="•"/>
            </a:pPr>
            <a:r>
              <a:rPr lang="en-US" sz="1300" dirty="0">
                <a:solidFill>
                  <a:schemeClr val="tx1"/>
                </a:solidFill>
              </a:rPr>
              <a:t>F1 similar across experience bands (0.49–0.51)</a:t>
            </a:r>
            <a:endParaRPr lang="en-US" sz="1300" dirty="0"/>
          </a:p>
          <a:p>
            <a:pPr marL="342900" indent="-342900">
              <a:spcAft>
                <a:spcPts val="300"/>
              </a:spcAft>
              <a:buSzPct val="100000"/>
              <a:buChar char="•"/>
            </a:pPr>
            <a:r>
              <a:rPr lang="en-US" sz="1300" dirty="0">
                <a:solidFill>
                  <a:schemeClr val="tx1"/>
                </a:solidFill>
              </a:rPr>
              <a:t>Unknown experience → send to human review</a:t>
            </a:r>
            <a:endParaRPr lang="en-US" sz="1300" dirty="0"/>
          </a:p>
          <a:p>
            <a:pPr marL="342900" indent="-342900">
              <a:spcAft>
                <a:spcPts val="300"/>
              </a:spcAft>
              <a:buSzPct val="100000"/>
              <a:buChar char="•"/>
            </a:pPr>
            <a:r>
              <a:rPr lang="en-US" sz="1300" dirty="0">
                <a:solidFill>
                  <a:schemeClr val="tx1"/>
                </a:solidFill>
              </a:rPr>
              <a:t>Decision support only; recruiter decides</a:t>
            </a:r>
            <a:endParaRPr lang="en-US" sz="1300" dirty="0"/>
          </a:p>
        </p:txBody>
      </p:sp>
      <p:sp>
        <p:nvSpPr>
          <p:cNvPr id="19" name="Future work card"/>
          <p:cNvSpPr/>
          <p:nvPr/>
        </p:nvSpPr>
        <p:spPr>
          <a:xfrm>
            <a:off x="6172200" y="3977640"/>
            <a:ext cx="5440680" cy="2194560"/>
          </a:xfrm>
          <a:prstGeom prst="roundRect">
            <a:avLst>
              <a:gd name="adj" fmla="val 5000"/>
            </a:avLst>
          </a:prstGeom>
          <a:solidFill>
            <a:schemeClr val="bg2"/>
          </a:solidFill>
          <a:ln w="12700">
            <a:solidFill>
              <a:schemeClr val="bg2"/>
            </a:solidFill>
            <a:prstDash val="solid"/>
          </a:ln>
        </p:spPr>
      </p:sp>
      <p:sp>
        <p:nvSpPr>
          <p:cNvPr id="20" name="Future work circle"/>
          <p:cNvSpPr/>
          <p:nvPr/>
        </p:nvSpPr>
        <p:spPr>
          <a:xfrm>
            <a:off x="6400800" y="4206240"/>
            <a:ext cx="548640" cy="548640"/>
          </a:xfrm>
          <a:prstGeom prst="ellipse">
            <a:avLst/>
          </a:prstGeom>
          <a:solidFill>
            <a:srgbClr val="1F2A44"/>
          </a:solidFill>
          <a:ln w="12700">
            <a:solidFill>
              <a:srgbClr val="1F2A44"/>
            </a:solidFill>
            <a:prstDash val="solid"/>
          </a:ln>
        </p:spPr>
      </p:sp>
      <p:pic>
        <p:nvPicPr>
          <p:cNvPr id="21" name="Future work icon" descr="preencoded.png">    </p:cNvPr>
          <p:cNvPicPr>
            <a:picLocks noChangeAspect="1"/>
          </p:cNvPicPr>
          <p:nvPr/>
        </p:nvPicPr>
        <p:blipFill>
          <a:blip r:embed="rId4"/>
          <a:stretch>
            <a:fillRect/>
          </a:stretch>
        </p:blipFill>
        <p:spPr>
          <a:xfrm>
            <a:off x="6537960" y="4343400"/>
            <a:ext cx="274320" cy="274320"/>
          </a:xfrm>
          <a:prstGeom prst="rect">
            <a:avLst/>
          </a:prstGeom>
        </p:spPr>
      </p:pic>
      <p:sp>
        <p:nvSpPr>
          <p:cNvPr id="22" name="Future work heading"/>
          <p:cNvSpPr txBox="1"/>
          <p:nvPr/>
        </p:nvSpPr>
        <p:spPr>
          <a:xfrm>
            <a:off x="7132320" y="420624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Future work</a:t>
            </a:r>
            <a:endParaRPr lang="en-US" sz="1700" dirty="0"/>
          </a:p>
        </p:txBody>
      </p:sp>
      <p:sp>
        <p:nvSpPr>
          <p:cNvPr id="23" name="Future work items"/>
          <p:cNvSpPr txBox="1"/>
          <p:nvPr/>
        </p:nvSpPr>
        <p:spPr>
          <a:xfrm>
            <a:off x="6446520" y="4846320"/>
            <a:ext cx="4983480" cy="12344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Read stated experience ("6 years")</a:t>
            </a:r>
            <a:endParaRPr lang="en-US" sz="1300" dirty="0"/>
          </a:p>
          <a:p>
            <a:pPr marL="342900" indent="-342900">
              <a:spcAft>
                <a:spcPts val="300"/>
              </a:spcAft>
              <a:buSzPct val="100000"/>
              <a:buChar char="•"/>
            </a:pPr>
            <a:r>
              <a:rPr lang="en-US" sz="1300" dirty="0">
                <a:solidFill>
                  <a:schemeClr val="tx1"/>
                </a:solidFill>
              </a:rPr>
              <a:t>Context-aware skill extraction</a:t>
            </a:r>
            <a:endParaRPr lang="en-US" sz="1300" dirty="0"/>
          </a:p>
          <a:p>
            <a:pPr marL="342900" indent="-342900">
              <a:spcAft>
                <a:spcPts val="300"/>
              </a:spcAft>
              <a:buSzPct val="100000"/>
              <a:buChar char="•"/>
            </a:pPr>
            <a:r>
              <a:rPr lang="en-US" sz="1300" dirty="0">
                <a:solidFill>
                  <a:schemeClr val="tx1"/>
                </a:solidFill>
              </a:rPr>
              <a:t>More embedding components, reranker</a:t>
            </a:r>
            <a:endParaRPr lang="en-US" sz="1300" dirty="0"/>
          </a:p>
          <a:p>
            <a:pPr marL="342900" indent="-342900">
              <a:spcAft>
                <a:spcPts val="300"/>
              </a:spcAft>
              <a:buSzPct val="100000"/>
              <a:buChar char="•"/>
            </a:pPr>
            <a:r>
              <a:rPr lang="en-US" sz="1300" dirty="0">
                <a:solidFill>
                  <a:schemeClr val="tx1"/>
                </a:solidFill>
              </a:rPr>
              <a:t>Tune the Good Fit threshold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Resume Matching">
  <a:themeElements>
    <a:clrScheme name="Resume Matching">
      <a:dk1>
        <a:srgbClr val="1E293B"/>
      </a:dk1>
      <a:lt1>
        <a:srgbClr val="FFFFFF"/>
      </a:lt1>
      <a:dk2>
        <a:srgbClr val="1F2A44"/>
      </a:dk2>
      <a:lt2>
        <a:srgbClr val="F1F5F9"/>
      </a:lt2>
      <a:accent1>
        <a:srgbClr val="0F766E"/>
      </a:accent1>
      <a:accent2>
        <a:srgbClr val="F59E0B"/>
      </a:accent2>
      <a:accent3>
        <a:srgbClr val="64748B"/>
      </a:accent3>
      <a:accent4>
        <a:srgbClr val="14B8A6"/>
      </a:accent4>
      <a:accent5>
        <a:srgbClr val="B45309"/>
      </a:accent5>
      <a:accent6>
        <a:srgbClr val="94A3B8"/>
      </a:accent6>
      <a:hlink>
        <a:srgbClr val="0F766E"/>
      </a:hlink>
      <a:folHlink>
        <a:srgbClr val="64748B"/>
      </a:folHlink>
    </a:clrScheme>
    <a:fontScheme name="Resume Mat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 Screening and Job Description Matching</dc:title>
  <dc:subject>PptxGenJS Presentation</dc:subject>
  <dc:creator>Naveen</dc:creator>
  <cp:lastModifiedBy>Naveen</cp:lastModifiedBy>
  <cp:revision>1</cp:revision>
  <dcterms:created xsi:type="dcterms:W3CDTF">2026-10-14T19:11:00Z</dcterms:created>
  <dcterms:modified xsi:type="dcterms:W3CDTF">2026-10-14T19:11:00Z</dcterms:modified>
</cp:coreProperties>
</file>